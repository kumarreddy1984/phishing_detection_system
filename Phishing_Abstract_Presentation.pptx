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Introduce the project, team, supervisor and institution. Mention the base paper reference (IEEE Access 2023). The system classifies URLs as PHISHING or LEGITIMATE using a hybrid ML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abstract aloud. Emphasise: no need for external APIs or WHOIS lookups — all features are purely lexical (derived from the URL string itself). Highlight the 90.65% accuracy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 the problem with recent statistics. Emphasise that blacklist-based tools miss new phishing URLs until they are reported. ML-based lexical analysis works on the URL alone — no internet connection required at inference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paper briefly. Point out that Karim et al. (the base paper) uses three classifiers including Naive Bayes; our adaptation uses two classifiers for simplicity and achieves competitive accuracy with 15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three-stage pipeline. Emphasise that the system is OFFLINE — it only analyses the URL string. No network call is made during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clear, measurable objectives. Each maps directly to a section of the implementation. Mention that O4 and O5 address academic rigour — examiners look for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stage top-to-bottom. The key innovation is the Soft Voting layer that averages predicted probabilities from both classifiers, reducing variance compared to either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9 implementation steps are complete. The STATUS column shows DONE — adjust to IN PROGRESS / PLANNED if presenting before full completion. Examiners appreciate a clear traceability between plan and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minimum requirements. The project was developed and tested on Windows 11 with Python 3.11. All libraries are open-source and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directly answers 'What is new in your project?' The token-based keyword fix is a subtle but important improvement over naive substring search. Emphasise the end-to-end nature — not just a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actual results from our trained model. The Hybrid model has lower accuracy than RF alone but better generalisation (lowest cross-validation standard deviation). Explain the bias-variance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timeline month by month. By October the core model is complete. November-December focus on evaluation and the web app. January is final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by linking the project back to the objectives. Mention future directions briefly — this shows forward thinking to examiners.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8912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  <a:latin typeface="Calibri"/>
              </a:rPr>
              <a:t>Phishing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Through Hybrid Machine Learning Based on 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ECF0F1"/>
                </a:solidFill>
                <a:latin typeface="Calibri"/>
              </a:rPr>
              <a:t>Abstract / Proposal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926080"/>
            <a:ext cx="9418320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Team Members: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Pasula Udaya  |  Sadiya Masarrath  |  Pulugu Kumar Reddy
Sampangi Nithin  |  Penchala Hansika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  <a:latin typeface="Calibri"/>
              </a:rPr>
              <a:t>Supervisor: S. Ravi  |  Coordinator: Dr. A. Godavari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  <a:latin typeface="Calibri"/>
              </a:rPr>
              <a:t>Dept. of CSE (Networks)  |  Kakatiya Institute of Technology &amp; Science (KITSW), Warangal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  <a:latin typeface="Calibri"/>
              </a:rPr>
              <a:t>Academic Year: 2025-2026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DC3C7"/>
                </a:solidFill>
                <a:latin typeface="Calibri"/>
              </a:rPr>
              <a:t>Base Paper: Abdul Karim et al., IEEE Access, 2023  |  DOI: 10.1109/ACCESS.2023.3252366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DC3C7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DC3C7"/>
                </a:solidFill>
                <a:latin typeface="Calibri"/>
              </a:rPr>
              <a:t>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Phishing attacks are among the most prevalent and dangerous cyberthreats, targeting users through deceptive URLs.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This project proposes a Hybrid Machine Learning System that classifies URLs as PHISHING or LEGITIMATE.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Approach: Extract 15 lexical URL features → Train Random Forest + Logistic Regression → Combine via Voting Classifier.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Dataset: 10,000 balanced URLs (5,000 phishing from PhishTank + 5,000 legitimate from Tranco/UNB).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Hybrid model achieves 90.65% accuracy and 96.37% ROC-AUC on the held-out test set.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Deployed as an interactive Streamlit web application for real-time URL inspection.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Introduction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Why is phishing detection critical?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DC3C7"/>
                </a:solidFill>
                <a:latin typeface="Calibri"/>
              </a:rPr>
              <a:t>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Phishing is a social-engineering attack using fraudulent URLs to steal credentials and financial data.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APWG reported &gt;1.3 million unique phishing sites in Q3 2023 — a 17% year-on-year rise.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Traditional defences (blacklists) fail against newly registered zero-day phishing domains.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ML-based URL analysis offers fast, zero-day detection without browser plugins or DNS queries.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Gap: Most single-classifier systems (RF or LR alone) trade accuracy vs. generalisation.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Our solution: Hybrid Voting Classifier that combines strengths of both algorithms.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Review of existing phishing detection approaches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DC3C7"/>
                </a:solidFill>
                <a:latin typeface="Calibri"/>
              </a:rPr>
              <a:t>4 /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2588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74458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Author / Year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Jain &amp; Gupta, 2018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Rule-based + Heuristics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~89%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High false-positive rate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Sahoo et al., 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LSTM on URL characters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~94%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Slow inference; large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Subasi et al., 2020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Random Forest (30 features)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~96%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Domain-specific features only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Mohammad et al., 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SVM + Phishtank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~93%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Requires external WHOIS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Karim et al., 2023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Hybrid Voting (RF + LR + NB)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~97%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Complex feature engineering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7445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Our Work,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Hybrid Voting (RF + LR)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90.65%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Purely lexical; scalable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Input → Process →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DC3C7"/>
                </a:solidFill>
                <a:latin typeface="Calibri"/>
              </a:rPr>
              <a:t>5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3474720" cy="4114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116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A raw URL string
• e.g. http://login.verify-bank.com/update
• (No DNS / WHOIS queries needed)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1089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463040"/>
            <a:ext cx="3474720" cy="41148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  <a:latin typeface="Calibri"/>
              </a:rPr>
              <a:t>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0116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1. Extract 15 lexical features
• 2. Apply StandardScaler (for LR)
• 3. Random Forest prediction
• 4. Logistic Regression prediction
• 5. Soft Voting aggregation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1089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1463040"/>
            <a:ext cx="3474720" cy="4114800"/>
          </a:xfrm>
          <a:prstGeom prst="rect">
            <a:avLst/>
          </a:prstGeom>
          <a:solidFill>
            <a:srgbClr val="117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  <a:latin typeface="Calibri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0116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Label: PHISHING or LEGITIMATE
• Confidence score (%)
• Risk flags raised
• Actionable user warning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DC3C7"/>
                </a:solidFill>
                <a:latin typeface="Calibri"/>
              </a:rPr>
              <a:t>6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O1 — Feature Engineering: Design and implement 15 lexical features directly from the URL string.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O2 — Model Training: Train Random Forest and Logistic Regression classifiers independently.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O3 — Hybrid Ensemble: Combine classifiers using a Soft Voting strategy to improve robustness.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O4 — Rigorous Evaluation: Report accuracy, precision, recall, F1, ROC-AUC + 5-fold CV.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O5 — Hyperparameter Tuning: Optimise model parameters via GridSearchCV to prevent overfitting.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O6 — Deployment: Build an interactive Streamlit app for real-time URL classification.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System 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DC3C7"/>
                </a:solidFill>
                <a:latin typeface="Calibri"/>
              </a:rPr>
              <a:t>7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325880"/>
            <a:ext cx="8229600" cy="5669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4356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Raw URL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8470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1984248"/>
            <a:ext cx="8229600" cy="566928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209397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Feature Extraction (15 Lexical Features)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50545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2642616"/>
            <a:ext cx="8229600" cy="566928"/>
          </a:xfrm>
          <a:prstGeom prst="rect">
            <a:avLst/>
          </a:prstGeom>
          <a:solidFill>
            <a:srgbClr val="117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275234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Train/Test Split  80% Train | 20%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16382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3300984"/>
            <a:ext cx="8229600" cy="5669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34107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Random Forest          Logistic 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82219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3959352"/>
            <a:ext cx="8229600" cy="5669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65960" y="4069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Soft Voting Classifier  (Hybrid Ensemble)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4805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65960" y="4617720"/>
            <a:ext cx="822960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5960" y="47274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PHISHING / LEGITIMATE + Confidence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Step-by-step development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DC3C7"/>
                </a:solidFill>
                <a:latin typeface="Calibri"/>
              </a:rPr>
              <a:t>8 /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3000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16636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Tools / Libraries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Dataset Collection &amp; Cleaning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pandas, requests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Feature Extraction (15 features)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re, urllib, socket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Train/Test Split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scikit-learn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Train RF &amp; 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RandomForestClassifier, 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Hyperparameter Tuning (GridSearchCV)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scikit-learn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Hybrid VotingClassifier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VotingClassifier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Evaluation (Metrics + Plots)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matplotlib, seaborn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Model Persistence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joblib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Streamlit Web App Deployment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streamlit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3A6B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Hardware &amp; Software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DC3C7"/>
                </a:solidFill>
                <a:latin typeface="Calibri"/>
              </a:rPr>
              <a:t>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  <a:latin typeface="Calibri"/>
              </a:rPr>
              <a:t>Hardware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5486400" cy="4114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Processor:  Intel Core i5 / AMD Ryzen 5 (or higher)
• RAM:  8 GB minimum (16 GB recommended)
• Storage:  SSD with 10 GB free space
• GPU:  Optional (CPU-only training supported)
• OS:  Windows 10/11 / Ubuntu 20.04+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  <a:latin typeface="Calibri"/>
              </a:rPr>
              <a:t>Software &amp; Libraries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577840" cy="41148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Python 3.11
• pandas 2.x, numpy 1.x
• scikit-learn 1.x
• matplotlib, seaborn
• joblib  (model serialisation)
• streamlit  (web UI)
• python-pptx  (this presentation)
• Jupyter Notebook  (exploration)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DC3C7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Novelty &amp;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What makes this project different?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DC3C7"/>
                </a:solidFill>
                <a:latin typeface="Calibri"/>
              </a:rPr>
              <a:t>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Purely lexical features: No DNS, WHOIS, or external API calls — works offline.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Hybrid Soft Voting: Averaged probability outputs reduce both bias (RF) and variance (LR).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Token-based keyword matching: Avoids false positives on legitimate URLs (e.g., wikipedia/Phishing).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Balanced 10,000-URL dataset: Equal phishing + legitimate samples for unbiased training.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GridSearchCV tuning: Best hyperparameters found systematically, not by guesswork.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3A6B"/>
                </a:solidFill>
                <a:latin typeface="Calibri"/>
              </a:rPr>
              <a:t>• End-to-end pipeline: From raw URL string → trained model → live Streamlit web app.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Expected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DC3C7"/>
                </a:solidFill>
                <a:latin typeface="Calibri"/>
              </a:rPr>
              <a:t>11 / 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627017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Hybrid Voting (Ours)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92.90%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82.45%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90.65%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93.69%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84.93%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92.74%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92.00%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78.90%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88.20%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F1-Score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92.84%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81.80%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90.42%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97.70%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90.88%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96.37%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CV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92.34%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83.81%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3A6B"/>
                          </a:solidFill>
                          <a:latin typeface="Calibri"/>
                        </a:rPr>
                        <a:t>90.56%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5897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★ Hybrid model shows best generalisation (lowest CV variance ±0.0032)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Project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Aug 2025 – Jan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DC3C7"/>
                </a:solidFill>
                <a:latin typeface="Calibri"/>
              </a:rPr>
              <a:t>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  <a:latin typeface="Calibri"/>
              </a:rPr>
              <a:t>Aug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  <a:latin typeface="Calibri"/>
              </a:rPr>
              <a:t>Sep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  <a:latin typeface="Calibri"/>
              </a:rPr>
              <a:t>Oct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  <a:latin typeface="Calibri"/>
              </a:rPr>
              <a:t>Nov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  <a:latin typeface="Calibri"/>
              </a:rPr>
              <a:t>Dec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  <a:latin typeface="Calibri"/>
              </a:rPr>
              <a:t>Jan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7830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  <a:latin typeface="Calibri"/>
              </a:rPr>
              <a:t>Literature Survey &amp; Problem Def.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828800"/>
            <a:ext cx="12801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23560" y="1828800"/>
            <a:ext cx="12801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95160" y="182880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82880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38360" y="182880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109960" y="182880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2860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  <a:latin typeface="Calibri"/>
              </a:rPr>
              <a:t>Dataset Collection &amp; Cleaning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33172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2331720"/>
            <a:ext cx="12801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2331720"/>
            <a:ext cx="12801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66760" y="233172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38360" y="233172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09960" y="233172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889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  <a:latin typeface="Calibri"/>
              </a:rPr>
              <a:t>Feature Engineering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283464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23560" y="283464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95160" y="2834640"/>
            <a:ext cx="12801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66760" y="2834640"/>
            <a:ext cx="12801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38360" y="283464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109960" y="283464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2918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  <a:latin typeface="Calibri"/>
              </a:rPr>
              <a:t>Model Training &amp; Tuning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60" y="333756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23560" y="333756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95160" y="333756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66760" y="3337560"/>
            <a:ext cx="12801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38360" y="3337560"/>
            <a:ext cx="12801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109960" y="333756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7947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  <a:latin typeface="Calibri"/>
              </a:rPr>
              <a:t>Evaluation &amp; Reporting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51960" y="384048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23560" y="384048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95160" y="384048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66760" y="384048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738360" y="3840480"/>
            <a:ext cx="12801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09960" y="3840480"/>
            <a:ext cx="12801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2976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  <a:latin typeface="Calibri"/>
              </a:rPr>
              <a:t>Web App Development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51960" y="434340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23560" y="434340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95160" y="434340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366760" y="434340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738360" y="4343400"/>
            <a:ext cx="12801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109960" y="4343400"/>
            <a:ext cx="12801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48006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  <a:latin typeface="Calibri"/>
              </a:rPr>
              <a:t>Documentation &amp; Presentations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51960" y="484632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23560" y="484632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995160" y="484632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366760" y="484632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738360" y="4846320"/>
            <a:ext cx="1280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109960" y="4846320"/>
            <a:ext cx="12801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C3C7"/>
                </a:solidFill>
                <a:latin typeface="Calibri"/>
              </a:rPr>
              <a:t>■ = Active Month    (Teal = Planned/Completed)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 &amp;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DC3C7"/>
                </a:solidFill>
                <a:latin typeface="Calibri"/>
              </a:rPr>
              <a:t>13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  <a:latin typeface="Calibr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B3A6B"/>
                </a:solidFill>
                <a:latin typeface="Calibri"/>
              </a:rPr>
              <a:t>• Designed a hybrid ML pipeline combining Random Forest and Logistic Regression for URL phishing detection.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B3A6B"/>
                </a:solidFill>
                <a:latin typeface="Calibri"/>
              </a:rPr>
              <a:t>• Achieved 90.65% test accuracy and 96.37% ROC-AUC with minimal cross-validation variance.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B3A6B"/>
                </a:solidFill>
                <a:latin typeface="Calibri"/>
              </a:rPr>
              <a:t>• The Streamlit web app provides real-time, offline URL inspection with confidence scores.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B3A6B"/>
                </a:solidFill>
                <a:latin typeface="Calibri"/>
              </a:rPr>
              <a:t>• Future Work: Browser extension, deep learning (BERT/LSTM), real-time threat-feed integration.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94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  <a:latin typeface="Calibri"/>
              </a:rPr>
              <a:t>Key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06240"/>
            <a:ext cx="11430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1B3A6B"/>
                </a:solidFill>
                <a:latin typeface="Calibri"/>
              </a:rPr>
              <a:t>• [1] A. Karim et al., 'Phishing Detection System Through Hybrid ML Based on URL,' IEEE Access, 2023.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B3A6B"/>
                </a:solidFill>
                <a:latin typeface="Calibri"/>
              </a:rPr>
              <a:t>• [2] APWG Phishing Activity Trends Reports, 2023.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B3A6B"/>
                </a:solidFill>
                <a:latin typeface="Calibri"/>
              </a:rPr>
              <a:t>• [3] F. Pedregosa et al., 'Scikit-learn: ML in Python,' JMLR, 2011.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B3A6B"/>
                </a:solidFill>
                <a:latin typeface="Calibri"/>
              </a:rPr>
              <a:t>• [4] PhishTank — openphish.com / phishtank.org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B3A6B"/>
                </a:solidFill>
                <a:latin typeface="Calibri"/>
              </a:rPr>
              <a:t>• [5] Tranco List — tranco-list.eu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