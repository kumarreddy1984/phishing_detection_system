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 deck — this presentation focuses on WHAT WAS BUILT AND RESULTS. About 30% background, 70% implementation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 examiners may not remember the abstract presentation. Keep this to 1-2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maps one identified gap to our concrete solution. This demonstrates awareness of the state of the 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StandardScaler is applied INSIDE the LR pipeline — no data leakage. RF does not need scaling. Both feed into the VotingClassifier.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the placeholder with an actual bar chart from your Jupyter notebook. Mention that PhishTank URLs are verified by community voting — high quality labels.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stratified split — prevents class imbalance in test set. Replace placeholder with a real screenshot from your notebook.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2-3 features in detail. Highlight has_ip and has_suspicious_kw as the most intuitive indicators. Mention that url_length and has_https are the top two by feature importance.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code snippet live if possible. Replace the placeholder with a real terminal screenshot. Point out the suspicious keyword detection using token intersection — not substring match.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LR needs scaling (gradient-based optimisation is sensitive to feature scale) but RF does not (tree splits are scale-invariant). GridSearchCV runs each combination on 5 folds — avoids overfitting the val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LR is wrapped in a Pipeline to include the StandardScaler inside the estimator. This is crucial — otherwise the scaler would need to be applied before the VotingClassifier, which complicates inference.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these are real results from the trained model. The Hybrid has lower raw accuracy than RF but better generalisation (lower CV standard deviation). This is the key academic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Confusion matrices for all three models — point out True Positive (TP) and False Negative (FN) counts. A FN here means a phishing URL is missed. Right: ROC curves — RF achieves AUC 0.977, Hybrid 0.964. Higher AUC = better discrimination 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URL length is the single most discriminative feature — phishing URLs tend to be longer. HTTPS presence is second — many phishing sites now use HTTPS so its absence is a strong indicator. Number of digits often indicates randomly generated hostnames.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Cross-validation uses only the TRAINING set — the 20% test set is never seen during tuning. This is essential for unbiased evaluation. The hybrid's low std dev (0.32%) shows it generalises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Streamlit app: 'streamlit run app.py' or visit http://localhost:8501. Take screenshots for each of the 4 example URLs shown here. Replace each [INSERT SCREENSHOT] placeholder with the actual app screenshot.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you solved real engineering problems — not just ran a notebook. Challenge 3 (keyword matching) and Challenge 4 (pipeline design) show deeper ML understanding. Examiners value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 strong summary. Remind the panel of the key number: 90.65% accuracy. The browser extension future work shows real-world applicability.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438912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22960"/>
            <a:ext cx="11247120" cy="822960"/>
          </a:xfrm>
          <a:prstGeom prst="rect">
            <a:avLst/>
          </a:prstGeom>
          <a:noFill/>
        </p:spPr>
        <p:txBody>
          <a:bodyPr wrap="square">
            <a:spAutoFit/>
          </a:bodyPr>
          <a:lstStyle/>
          <a:p>
            <a:pPr algn="ctr"/>
            <a:r>
              <a:rPr sz="3400" b="1" i="0">
                <a:solidFill>
                  <a:srgbClr val="00B4D8"/>
                </a:solidFill>
                <a:latin typeface="Calibri"/>
              </a:rPr>
              <a:t>Phishing Detection System</a:t>
            </a:r>
          </a:p>
        </p:txBody>
      </p:sp>
      <p:sp>
        <p:nvSpPr>
          <p:cNvPr id="5" name="TextBox 4"/>
          <p:cNvSpPr txBox="1"/>
          <p:nvPr/>
        </p:nvSpPr>
        <p:spPr>
          <a:xfrm>
            <a:off x="457200" y="1554480"/>
            <a:ext cx="11247120" cy="640080"/>
          </a:xfrm>
          <a:prstGeom prst="rect">
            <a:avLst/>
          </a:prstGeom>
          <a:noFill/>
        </p:spPr>
        <p:txBody>
          <a:bodyPr wrap="square">
            <a:spAutoFit/>
          </a:bodyPr>
          <a:lstStyle/>
          <a:p>
            <a:pPr algn="ctr"/>
            <a:r>
              <a:rPr sz="2400" b="0" i="0">
                <a:solidFill>
                  <a:srgbClr val="FFFFFF"/>
                </a:solidFill>
                <a:latin typeface="Calibri"/>
              </a:rPr>
              <a:t>Through Hybrid Machine Learning Based on URL</a:t>
            </a:r>
          </a:p>
        </p:txBody>
      </p:sp>
      <p:sp>
        <p:nvSpPr>
          <p:cNvPr id="6" name="TextBox 5"/>
          <p:cNvSpPr txBox="1"/>
          <p:nvPr/>
        </p:nvSpPr>
        <p:spPr>
          <a:xfrm>
            <a:off x="457200" y="2331720"/>
            <a:ext cx="11247120" cy="457200"/>
          </a:xfrm>
          <a:prstGeom prst="rect">
            <a:avLst/>
          </a:prstGeom>
          <a:noFill/>
        </p:spPr>
        <p:txBody>
          <a:bodyPr wrap="square">
            <a:spAutoFit/>
          </a:bodyPr>
          <a:lstStyle/>
          <a:p>
            <a:pPr algn="ctr"/>
            <a:r>
              <a:rPr sz="1600" b="0" i="1">
                <a:solidFill>
                  <a:srgbClr val="ECF0F1"/>
                </a:solidFill>
                <a:latin typeface="Calibri"/>
              </a:rPr>
              <a:t>Execution / Implementation Presentation</a:t>
            </a:r>
          </a:p>
        </p:txBody>
      </p:sp>
      <p:sp>
        <p:nvSpPr>
          <p:cNvPr id="7" name="Rectangle 6"/>
          <p:cNvSpPr/>
          <p:nvPr/>
        </p:nvSpPr>
        <p:spPr>
          <a:xfrm>
            <a:off x="1371600" y="2926080"/>
            <a:ext cx="9418320"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108960"/>
            <a:ext cx="5486400" cy="320040"/>
          </a:xfrm>
          <a:prstGeom prst="rect">
            <a:avLst/>
          </a:prstGeom>
          <a:noFill/>
        </p:spPr>
        <p:txBody>
          <a:bodyPr wrap="square">
            <a:spAutoFit/>
          </a:bodyPr>
          <a:lstStyle/>
          <a:p>
            <a:pPr algn="l"/>
            <a:r>
              <a:rPr sz="1300" b="1" i="0">
                <a:solidFill>
                  <a:srgbClr val="00B4D8"/>
                </a:solidFill>
                <a:latin typeface="Calibri"/>
              </a:rPr>
              <a:t>Team Members:</a:t>
            </a:r>
          </a:p>
        </p:txBody>
      </p:sp>
      <p:sp>
        <p:nvSpPr>
          <p:cNvPr id="9" name="TextBox 8"/>
          <p:cNvSpPr txBox="1"/>
          <p:nvPr/>
        </p:nvSpPr>
        <p:spPr>
          <a:xfrm>
            <a:off x="548640" y="3429000"/>
            <a:ext cx="10972800" cy="640080"/>
          </a:xfrm>
          <a:prstGeom prst="rect">
            <a:avLst/>
          </a:prstGeom>
          <a:noFill/>
        </p:spPr>
        <p:txBody>
          <a:bodyPr wrap="square">
            <a:spAutoFit/>
          </a:bodyPr>
          <a:lstStyle/>
          <a:p>
            <a:pPr algn="l"/>
            <a:r>
              <a:rPr sz="1300" b="0" i="0">
                <a:solidFill>
                  <a:srgbClr val="FFFFFF"/>
                </a:solidFill>
                <a:latin typeface="Calibri"/>
              </a:rPr>
              <a:t>Pasula Udaya  |  Sadiya Masarrath  |  Pulugu Kumar Reddy
Sampangi Nithin  |  Penchala Hansika</a:t>
            </a:r>
          </a:p>
        </p:txBody>
      </p:sp>
      <p:sp>
        <p:nvSpPr>
          <p:cNvPr id="10" name="TextBox 9"/>
          <p:cNvSpPr txBox="1"/>
          <p:nvPr/>
        </p:nvSpPr>
        <p:spPr>
          <a:xfrm>
            <a:off x="548640" y="4160520"/>
            <a:ext cx="10972800" cy="365760"/>
          </a:xfrm>
          <a:prstGeom prst="rect">
            <a:avLst/>
          </a:prstGeom>
          <a:noFill/>
        </p:spPr>
        <p:txBody>
          <a:bodyPr wrap="square">
            <a:spAutoFit/>
          </a:bodyPr>
          <a:lstStyle/>
          <a:p>
            <a:pPr algn="l"/>
            <a:r>
              <a:rPr sz="1200" b="0" i="0">
                <a:solidFill>
                  <a:srgbClr val="ECF0F1"/>
                </a:solidFill>
                <a:latin typeface="Calibri"/>
              </a:rPr>
              <a:t>Supervisor: S. Ravi  |  Coordinator: Dr. A. Godavari</a:t>
            </a:r>
          </a:p>
        </p:txBody>
      </p:sp>
      <p:sp>
        <p:nvSpPr>
          <p:cNvPr id="11" name="TextBox 10"/>
          <p:cNvSpPr txBox="1"/>
          <p:nvPr/>
        </p:nvSpPr>
        <p:spPr>
          <a:xfrm>
            <a:off x="548640" y="4526280"/>
            <a:ext cx="10972800" cy="365760"/>
          </a:xfrm>
          <a:prstGeom prst="rect">
            <a:avLst/>
          </a:prstGeom>
          <a:noFill/>
        </p:spPr>
        <p:txBody>
          <a:bodyPr wrap="square">
            <a:spAutoFit/>
          </a:bodyPr>
          <a:lstStyle/>
          <a:p>
            <a:pPr algn="l"/>
            <a:r>
              <a:rPr sz="1200" b="0" i="0">
                <a:solidFill>
                  <a:srgbClr val="ECF0F1"/>
                </a:solidFill>
                <a:latin typeface="Calibri"/>
              </a:rPr>
              <a:t>Dept. of CSE (Networks)  |  KITSW, Warangal  |  2025-2026</a:t>
            </a:r>
          </a:p>
        </p:txBody>
      </p:sp>
      <p:sp>
        <p:nvSpPr>
          <p:cNvPr id="12" name="TextBox 11"/>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Problem &amp; Objectives — Recap</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2 / 17</a:t>
            </a:r>
          </a:p>
        </p:txBody>
      </p:sp>
      <p:sp>
        <p:nvSpPr>
          <p:cNvPr id="6" name="TextBox 5"/>
          <p:cNvSpPr txBox="1"/>
          <p:nvPr/>
        </p:nvSpPr>
        <p:spPr>
          <a:xfrm>
            <a:off x="365760" y="1325880"/>
            <a:ext cx="11430000" cy="5120640"/>
          </a:xfrm>
          <a:prstGeom prst="rect">
            <a:avLst/>
          </a:prstGeom>
          <a:noFill/>
        </p:spPr>
        <p:txBody>
          <a:bodyPr wrap="square">
            <a:spAutoFit/>
          </a:bodyPr>
          <a:lstStyle/>
          <a:p>
            <a:pPr>
              <a:spcBef>
                <a:spcPts val="600"/>
              </a:spcBef>
            </a:pPr>
            <a:r>
              <a:rPr sz="1500">
                <a:solidFill>
                  <a:srgbClr val="1B3A6B"/>
                </a:solidFill>
                <a:latin typeface="Calibri"/>
              </a:rPr>
              <a:t>• Problem: Attackers craft deceptive URLs to steal credentials — blacklists can't keep up.</a:t>
            </a:r>
          </a:p>
          <a:p>
            <a:pPr>
              <a:spcBef>
                <a:spcPts val="600"/>
              </a:spcBef>
            </a:pPr>
            <a:r>
              <a:rPr sz="1500">
                <a:solidFill>
                  <a:srgbClr val="1B3A6B"/>
                </a:solidFill>
                <a:latin typeface="Calibri"/>
              </a:rPr>
              <a:t>• Goal: Classify any URL as PHISHING or LEGITIMATE in real time using ML.</a:t>
            </a:r>
          </a:p>
          <a:p>
            <a:pPr>
              <a:spcBef>
                <a:spcPts val="600"/>
              </a:spcBef>
            </a:pPr>
            <a:r>
              <a:rPr sz="1500">
                <a:solidFill>
                  <a:srgbClr val="1B3A6B"/>
                </a:solidFill>
                <a:latin typeface="Calibri"/>
              </a:rPr>
              <a:t>• Input: Raw URL string only — no DNS / WHOIS lookups required.</a:t>
            </a:r>
          </a:p>
          <a:p>
            <a:pPr>
              <a:spcBef>
                <a:spcPts val="600"/>
              </a:spcBef>
            </a:pPr>
            <a:r>
              <a:rPr sz="1500">
                <a:solidFill>
                  <a:srgbClr val="1B3A6B"/>
                </a:solidFill>
                <a:latin typeface="Calibri"/>
              </a:rPr>
              <a:t>• O1: Extract 15 lexical features from URL.    O2: Train RF and LR models.</a:t>
            </a:r>
          </a:p>
          <a:p>
            <a:pPr>
              <a:spcBef>
                <a:spcPts val="600"/>
              </a:spcBef>
            </a:pPr>
            <a:r>
              <a:rPr sz="1500">
                <a:solidFill>
                  <a:srgbClr val="1B3A6B"/>
                </a:solidFill>
                <a:latin typeface="Calibri"/>
              </a:rPr>
              <a:t>• O3: Combine into Hybrid Soft Voting Classifier.</a:t>
            </a:r>
          </a:p>
          <a:p>
            <a:pPr>
              <a:spcBef>
                <a:spcPts val="600"/>
              </a:spcBef>
            </a:pPr>
            <a:r>
              <a:rPr sz="1500">
                <a:solidFill>
                  <a:srgbClr val="1B3A6B"/>
                </a:solidFill>
                <a:latin typeface="Calibri"/>
              </a:rPr>
              <a:t>• O4: Evaluate rigorously (accuracy, F1, ROC-AUC, CV).    O5: Deploy via Streamlit.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Literature Gap &amp; Our Contribution</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3 / 17</a:t>
            </a:r>
          </a:p>
        </p:txBody>
      </p:sp>
      <p:graphicFrame>
        <p:nvGraphicFramePr>
          <p:cNvPr id="6" name="Table 5"/>
          <p:cNvGraphicFramePr>
            <a:graphicFrameLocks noGrp="1"/>
          </p:cNvGraphicFramePr>
          <p:nvPr/>
        </p:nvGraphicFramePr>
        <p:xfrm>
          <a:off x="365760" y="1371600"/>
          <a:ext cx="11430000" cy="5120640"/>
        </p:xfrm>
        <a:graphic>
          <a:graphicData uri="http://schemas.openxmlformats.org/drawingml/2006/table">
            <a:tbl>
              <a:tblPr firstRow="1" bandRow="1">
                <a:tableStyleId>{5C22544A-7EE6-4342-B048-85BDC9FD1C3A}</a:tableStyleId>
              </a:tblPr>
              <a:tblGrid>
                <a:gridCol w="5715000"/>
                <a:gridCol w="5715000"/>
              </a:tblGrid>
              <a:tr h="853440">
                <a:tc>
                  <a:txBody>
                    <a:bodyPr/>
                    <a:lstStyle/>
                    <a:p>
                      <a:pPr algn="ctr"/>
                      <a:r>
                        <a:rPr b="1" sz="1300">
                          <a:solidFill>
                            <a:srgbClr val="FFFFFF"/>
                          </a:solidFill>
                          <a:latin typeface="Calibri"/>
                        </a:rPr>
                        <a:t>Gap in Existing Work</a:t>
                      </a:r>
                    </a:p>
                  </a:txBody>
                  <a:tcPr>
                    <a:solidFill>
                      <a:srgbClr val="1B3A6B"/>
                    </a:solidFill>
                  </a:tcPr>
                </a:tc>
                <a:tc>
                  <a:txBody>
                    <a:bodyPr/>
                    <a:lstStyle/>
                    <a:p>
                      <a:pPr algn="ctr"/>
                      <a:r>
                        <a:rPr b="1" sz="1300">
                          <a:solidFill>
                            <a:srgbClr val="FFFFFF"/>
                          </a:solidFill>
                          <a:latin typeface="Calibri"/>
                        </a:rPr>
                        <a:t>Our Solution</a:t>
                      </a:r>
                    </a:p>
                  </a:txBody>
                  <a:tcPr>
                    <a:solidFill>
                      <a:srgbClr val="1B3A6B"/>
                    </a:solidFill>
                  </a:tcPr>
                </a:tc>
              </a:tr>
              <a:tr h="853440">
                <a:tc>
                  <a:txBody>
                    <a:bodyPr/>
                    <a:lstStyle/>
                    <a:p>
                      <a:pPr algn="ctr"/>
                      <a:r>
                        <a:rPr sz="1300">
                          <a:solidFill>
                            <a:srgbClr val="1B3A6B"/>
                          </a:solidFill>
                          <a:latin typeface="Calibri"/>
                        </a:rPr>
                        <a:t>External API dependency (WHOIS, DNS)</a:t>
                      </a:r>
                    </a:p>
                  </a:txBody>
                  <a:tcPr>
                    <a:solidFill>
                      <a:srgbClr val="D6EAF8"/>
                    </a:solidFill>
                  </a:tcPr>
                </a:tc>
                <a:tc>
                  <a:txBody>
                    <a:bodyPr/>
                    <a:lstStyle/>
                    <a:p>
                      <a:pPr algn="ctr"/>
                      <a:r>
                        <a:rPr sz="1300">
                          <a:solidFill>
                            <a:srgbClr val="1B3A6B"/>
                          </a:solidFill>
                          <a:latin typeface="Calibri"/>
                        </a:rPr>
                        <a:t>100% lexical features — offline inference</a:t>
                      </a:r>
                    </a:p>
                  </a:txBody>
                  <a:tcPr>
                    <a:solidFill>
                      <a:srgbClr val="D6EAF8"/>
                    </a:solidFill>
                  </a:tcPr>
                </a:tc>
              </a:tr>
              <a:tr h="853440">
                <a:tc>
                  <a:txBody>
                    <a:bodyPr/>
                    <a:lstStyle/>
                    <a:p>
                      <a:pPr algn="ctr"/>
                      <a:r>
                        <a:rPr sz="1300">
                          <a:solidFill>
                            <a:srgbClr val="1B3A6B"/>
                          </a:solidFill>
                          <a:latin typeface="Calibri"/>
                        </a:rPr>
                        <a:t>Single classifier — high variance</a:t>
                      </a:r>
                    </a:p>
                  </a:txBody>
                  <a:tcPr>
                    <a:solidFill>
                      <a:srgbClr val="FFFFFF"/>
                    </a:solidFill>
                  </a:tcPr>
                </a:tc>
                <a:tc>
                  <a:txBody>
                    <a:bodyPr/>
                    <a:lstStyle/>
                    <a:p>
                      <a:pPr algn="ctr"/>
                      <a:r>
                        <a:rPr sz="1300">
                          <a:solidFill>
                            <a:srgbClr val="1B3A6B"/>
                          </a:solidFill>
                          <a:latin typeface="Calibri"/>
                        </a:rPr>
                        <a:t>Hybrid Voting — lower variance, robust</a:t>
                      </a:r>
                    </a:p>
                  </a:txBody>
                  <a:tcPr>
                    <a:solidFill>
                      <a:srgbClr val="FFFFFF"/>
                    </a:solidFill>
                  </a:tcPr>
                </a:tc>
              </a:tr>
              <a:tr h="853440">
                <a:tc>
                  <a:txBody>
                    <a:bodyPr/>
                    <a:lstStyle/>
                    <a:p>
                      <a:pPr algn="ctr"/>
                      <a:r>
                        <a:rPr sz="1300">
                          <a:solidFill>
                            <a:srgbClr val="1B3A6B"/>
                          </a:solidFill>
                          <a:latin typeface="Calibri"/>
                        </a:rPr>
                        <a:t>Substring keyword matching → FP</a:t>
                      </a:r>
                    </a:p>
                  </a:txBody>
                  <a:tcPr>
                    <a:solidFill>
                      <a:srgbClr val="D6EAF8"/>
                    </a:solidFill>
                  </a:tcPr>
                </a:tc>
                <a:tc>
                  <a:txBody>
                    <a:bodyPr/>
                    <a:lstStyle/>
                    <a:p>
                      <a:pPr algn="ctr"/>
                      <a:r>
                        <a:rPr sz="1300">
                          <a:solidFill>
                            <a:srgbClr val="1B3A6B"/>
                          </a:solidFill>
                          <a:latin typeface="Calibri"/>
                        </a:rPr>
                        <a:t>Token intersection — no false positives</a:t>
                      </a:r>
                    </a:p>
                  </a:txBody>
                  <a:tcPr>
                    <a:solidFill>
                      <a:srgbClr val="D6EAF8"/>
                    </a:solidFill>
                  </a:tcPr>
                </a:tc>
              </a:tr>
              <a:tr h="853440">
                <a:tc>
                  <a:txBody>
                    <a:bodyPr/>
                    <a:lstStyle/>
                    <a:p>
                      <a:pPr algn="ctr"/>
                      <a:r>
                        <a:rPr sz="1300">
                          <a:solidFill>
                            <a:srgbClr val="1B3A6B"/>
                          </a:solidFill>
                          <a:latin typeface="Calibri"/>
                        </a:rPr>
                        <a:t>Imbalanced / small datasets</a:t>
                      </a:r>
                    </a:p>
                  </a:txBody>
                  <a:tcPr>
                    <a:solidFill>
                      <a:srgbClr val="FFFFFF"/>
                    </a:solidFill>
                  </a:tcPr>
                </a:tc>
                <a:tc>
                  <a:txBody>
                    <a:bodyPr/>
                    <a:lstStyle/>
                    <a:p>
                      <a:pPr algn="ctr"/>
                      <a:r>
                        <a:rPr sz="1300">
                          <a:solidFill>
                            <a:srgbClr val="1B3A6B"/>
                          </a:solidFill>
                          <a:latin typeface="Calibri"/>
                        </a:rPr>
                        <a:t>10,000 balanced URLs (50/50 split)</a:t>
                      </a:r>
                    </a:p>
                  </a:txBody>
                  <a:tcPr>
                    <a:solidFill>
                      <a:srgbClr val="FFFFFF"/>
                    </a:solidFill>
                  </a:tcPr>
                </a:tc>
              </a:tr>
              <a:tr h="853440">
                <a:tc>
                  <a:txBody>
                    <a:bodyPr/>
                    <a:lstStyle/>
                    <a:p>
                      <a:pPr algn="ctr"/>
                      <a:r>
                        <a:rPr sz="1300">
                          <a:solidFill>
                            <a:srgbClr val="1B3A6B"/>
                          </a:solidFill>
                          <a:latin typeface="Calibri"/>
                        </a:rPr>
                        <a:t>No real-time deployment</a:t>
                      </a:r>
                    </a:p>
                  </a:txBody>
                  <a:tcPr>
                    <a:solidFill>
                      <a:srgbClr val="D6EAF8"/>
                    </a:solidFill>
                  </a:tcPr>
                </a:tc>
                <a:tc>
                  <a:txBody>
                    <a:bodyPr/>
                    <a:lstStyle/>
                    <a:p>
                      <a:pPr algn="ctr"/>
                      <a:r>
                        <a:rPr sz="1300">
                          <a:solidFill>
                            <a:srgbClr val="1B3A6B"/>
                          </a:solidFill>
                          <a:latin typeface="Calibri"/>
                        </a:rPr>
                        <a:t>Streamlit app with confidence scores</a:t>
                      </a:r>
                    </a:p>
                  </a:txBody>
                  <a:tcPr>
                    <a:solidFill>
                      <a:srgbClr val="D6EA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Proposed System Architecture</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4 / 17</a:t>
            </a:r>
          </a:p>
        </p:txBody>
      </p:sp>
      <p:sp>
        <p:nvSpPr>
          <p:cNvPr id="6" name="Rectangle 5"/>
          <p:cNvSpPr/>
          <p:nvPr/>
        </p:nvSpPr>
        <p:spPr>
          <a:xfrm>
            <a:off x="1737360" y="1325880"/>
            <a:ext cx="8686800"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37360" y="1417320"/>
            <a:ext cx="8686800" cy="502920"/>
          </a:xfrm>
          <a:prstGeom prst="rect">
            <a:avLst/>
          </a:prstGeom>
          <a:noFill/>
        </p:spPr>
        <p:txBody>
          <a:bodyPr wrap="square">
            <a:spAutoFit/>
          </a:bodyPr>
          <a:lstStyle/>
          <a:p>
            <a:pPr algn="ctr"/>
            <a:r>
              <a:rPr sz="1400" b="1" i="0">
                <a:solidFill>
                  <a:srgbClr val="FFFFFF"/>
                </a:solidFill>
                <a:latin typeface="Calibri"/>
              </a:rPr>
              <a:t>URL Input</a:t>
            </a:r>
          </a:p>
        </p:txBody>
      </p:sp>
      <p:sp>
        <p:nvSpPr>
          <p:cNvPr id="8" name="TextBox 7"/>
          <p:cNvSpPr txBox="1"/>
          <p:nvPr/>
        </p:nvSpPr>
        <p:spPr>
          <a:xfrm>
            <a:off x="5852160" y="1920240"/>
            <a:ext cx="457200" cy="164592"/>
          </a:xfrm>
          <a:prstGeom prst="rect">
            <a:avLst/>
          </a:prstGeom>
          <a:noFill/>
        </p:spPr>
        <p:txBody>
          <a:bodyPr wrap="square">
            <a:spAutoFit/>
          </a:bodyPr>
          <a:lstStyle/>
          <a:p>
            <a:pPr algn="ctr"/>
            <a:r>
              <a:rPr sz="1000" b="0" i="0">
                <a:solidFill>
                  <a:srgbClr val="00B4D8"/>
                </a:solidFill>
                <a:latin typeface="Calibri"/>
              </a:rPr>
              <a:t>▼</a:t>
            </a:r>
          </a:p>
        </p:txBody>
      </p:sp>
      <p:sp>
        <p:nvSpPr>
          <p:cNvPr id="9" name="Rectangle 8"/>
          <p:cNvSpPr/>
          <p:nvPr/>
        </p:nvSpPr>
        <p:spPr>
          <a:xfrm>
            <a:off x="1737360" y="1993392"/>
            <a:ext cx="8686800" cy="5943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2084832"/>
            <a:ext cx="8686800" cy="502920"/>
          </a:xfrm>
          <a:prstGeom prst="rect">
            <a:avLst/>
          </a:prstGeom>
          <a:noFill/>
        </p:spPr>
        <p:txBody>
          <a:bodyPr wrap="square">
            <a:spAutoFit/>
          </a:bodyPr>
          <a:lstStyle/>
          <a:p>
            <a:pPr algn="ctr"/>
            <a:r>
              <a:rPr sz="1400" b="1" i="0">
                <a:solidFill>
                  <a:srgbClr val="FFFFFF"/>
                </a:solidFill>
                <a:latin typeface="Calibri"/>
              </a:rPr>
              <a:t>Feature Extractor (features.py)</a:t>
            </a:r>
          </a:p>
        </p:txBody>
      </p:sp>
      <p:sp>
        <p:nvSpPr>
          <p:cNvPr id="11" name="TextBox 10"/>
          <p:cNvSpPr txBox="1"/>
          <p:nvPr/>
        </p:nvSpPr>
        <p:spPr>
          <a:xfrm>
            <a:off x="5852160" y="2587752"/>
            <a:ext cx="457200" cy="164592"/>
          </a:xfrm>
          <a:prstGeom prst="rect">
            <a:avLst/>
          </a:prstGeom>
          <a:noFill/>
        </p:spPr>
        <p:txBody>
          <a:bodyPr wrap="square">
            <a:spAutoFit/>
          </a:bodyPr>
          <a:lstStyle/>
          <a:p>
            <a:pPr algn="ctr"/>
            <a:r>
              <a:rPr sz="1000" b="0" i="0">
                <a:solidFill>
                  <a:srgbClr val="00B4D8"/>
                </a:solidFill>
                <a:latin typeface="Calibri"/>
              </a:rPr>
              <a:t>▼</a:t>
            </a:r>
          </a:p>
        </p:txBody>
      </p:sp>
      <p:sp>
        <p:nvSpPr>
          <p:cNvPr id="12" name="Rectangle 11"/>
          <p:cNvSpPr/>
          <p:nvPr/>
        </p:nvSpPr>
        <p:spPr>
          <a:xfrm>
            <a:off x="1737360" y="2660904"/>
            <a:ext cx="8686800" cy="594360"/>
          </a:xfrm>
          <a:prstGeom prst="rect">
            <a:avLst/>
          </a:prstGeom>
          <a:solidFill>
            <a:srgbClr val="117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2752344"/>
            <a:ext cx="8686800" cy="502920"/>
          </a:xfrm>
          <a:prstGeom prst="rect">
            <a:avLst/>
          </a:prstGeom>
          <a:noFill/>
        </p:spPr>
        <p:txBody>
          <a:bodyPr wrap="square">
            <a:spAutoFit/>
          </a:bodyPr>
          <a:lstStyle/>
          <a:p>
            <a:pPr algn="ctr"/>
            <a:r>
              <a:rPr sz="1400" b="1" i="0">
                <a:solidFill>
                  <a:srgbClr val="FFFFFF"/>
                </a:solidFill>
                <a:latin typeface="Calibri"/>
              </a:rPr>
              <a:t>StandardScaler  (for LR pipeline)</a:t>
            </a:r>
          </a:p>
        </p:txBody>
      </p:sp>
      <p:sp>
        <p:nvSpPr>
          <p:cNvPr id="14" name="TextBox 13"/>
          <p:cNvSpPr txBox="1"/>
          <p:nvPr/>
        </p:nvSpPr>
        <p:spPr>
          <a:xfrm>
            <a:off x="5852160" y="3255264"/>
            <a:ext cx="457200" cy="164592"/>
          </a:xfrm>
          <a:prstGeom prst="rect">
            <a:avLst/>
          </a:prstGeom>
          <a:noFill/>
        </p:spPr>
        <p:txBody>
          <a:bodyPr wrap="square">
            <a:spAutoFit/>
          </a:bodyPr>
          <a:lstStyle/>
          <a:p>
            <a:pPr algn="ctr"/>
            <a:r>
              <a:rPr sz="1000" b="0" i="0">
                <a:solidFill>
                  <a:srgbClr val="00B4D8"/>
                </a:solidFill>
                <a:latin typeface="Calibri"/>
              </a:rPr>
              <a:t>▼</a:t>
            </a:r>
          </a:p>
        </p:txBody>
      </p:sp>
      <p:sp>
        <p:nvSpPr>
          <p:cNvPr id="15" name="Rectangle 14"/>
          <p:cNvSpPr/>
          <p:nvPr/>
        </p:nvSpPr>
        <p:spPr>
          <a:xfrm>
            <a:off x="1737360" y="3328416"/>
            <a:ext cx="8686800" cy="5943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360" y="3419856"/>
            <a:ext cx="8686800" cy="502920"/>
          </a:xfrm>
          <a:prstGeom prst="rect">
            <a:avLst/>
          </a:prstGeom>
          <a:noFill/>
        </p:spPr>
        <p:txBody>
          <a:bodyPr wrap="square">
            <a:spAutoFit/>
          </a:bodyPr>
          <a:lstStyle/>
          <a:p>
            <a:pPr algn="ctr"/>
            <a:r>
              <a:rPr sz="1400" b="1" i="0">
                <a:solidFill>
                  <a:srgbClr val="FFFFFF"/>
                </a:solidFill>
                <a:latin typeface="Calibri"/>
              </a:rPr>
              <a:t>Random Forest (n=150)       Logistic Regression (C=0.1)</a:t>
            </a:r>
          </a:p>
        </p:txBody>
      </p:sp>
      <p:sp>
        <p:nvSpPr>
          <p:cNvPr id="17" name="TextBox 16"/>
          <p:cNvSpPr txBox="1"/>
          <p:nvPr/>
        </p:nvSpPr>
        <p:spPr>
          <a:xfrm>
            <a:off x="5852160" y="3922776"/>
            <a:ext cx="457200" cy="164592"/>
          </a:xfrm>
          <a:prstGeom prst="rect">
            <a:avLst/>
          </a:prstGeom>
          <a:noFill/>
        </p:spPr>
        <p:txBody>
          <a:bodyPr wrap="square">
            <a:spAutoFit/>
          </a:bodyPr>
          <a:lstStyle/>
          <a:p>
            <a:pPr algn="ctr"/>
            <a:r>
              <a:rPr sz="1000" b="0" i="0">
                <a:solidFill>
                  <a:srgbClr val="00B4D8"/>
                </a:solidFill>
                <a:latin typeface="Calibri"/>
              </a:rPr>
              <a:t>▼</a:t>
            </a:r>
          </a:p>
        </p:txBody>
      </p:sp>
      <p:sp>
        <p:nvSpPr>
          <p:cNvPr id="18" name="Rectangle 17"/>
          <p:cNvSpPr/>
          <p:nvPr/>
        </p:nvSpPr>
        <p:spPr>
          <a:xfrm>
            <a:off x="1737360" y="3995928"/>
            <a:ext cx="8686800" cy="5943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37360" y="4087368"/>
            <a:ext cx="8686800" cy="502920"/>
          </a:xfrm>
          <a:prstGeom prst="rect">
            <a:avLst/>
          </a:prstGeom>
          <a:noFill/>
        </p:spPr>
        <p:txBody>
          <a:bodyPr wrap="square">
            <a:spAutoFit/>
          </a:bodyPr>
          <a:lstStyle/>
          <a:p>
            <a:pPr algn="ctr"/>
            <a:r>
              <a:rPr sz="1400" b="1" i="0">
                <a:solidFill>
                  <a:srgbClr val="FFFFFF"/>
                </a:solidFill>
                <a:latin typeface="Calibri"/>
              </a:rPr>
              <a:t>Soft Voting Classifier  — averaged P(phishing)</a:t>
            </a:r>
          </a:p>
        </p:txBody>
      </p:sp>
      <p:sp>
        <p:nvSpPr>
          <p:cNvPr id="20" name="TextBox 19"/>
          <p:cNvSpPr txBox="1"/>
          <p:nvPr/>
        </p:nvSpPr>
        <p:spPr>
          <a:xfrm>
            <a:off x="5852160" y="4590288"/>
            <a:ext cx="457200" cy="164592"/>
          </a:xfrm>
          <a:prstGeom prst="rect">
            <a:avLst/>
          </a:prstGeom>
          <a:noFill/>
        </p:spPr>
        <p:txBody>
          <a:bodyPr wrap="square">
            <a:spAutoFit/>
          </a:bodyPr>
          <a:lstStyle/>
          <a:p>
            <a:pPr algn="ctr"/>
            <a:r>
              <a:rPr sz="1000" b="0" i="0">
                <a:solidFill>
                  <a:srgbClr val="00B4D8"/>
                </a:solidFill>
                <a:latin typeface="Calibri"/>
              </a:rPr>
              <a:t>▼</a:t>
            </a:r>
          </a:p>
        </p:txBody>
      </p:sp>
      <p:sp>
        <p:nvSpPr>
          <p:cNvPr id="21" name="Rectangle 20"/>
          <p:cNvSpPr/>
          <p:nvPr/>
        </p:nvSpPr>
        <p:spPr>
          <a:xfrm>
            <a:off x="1737360" y="4663440"/>
            <a:ext cx="868680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360" y="4754880"/>
            <a:ext cx="8686800" cy="502920"/>
          </a:xfrm>
          <a:prstGeom prst="rect">
            <a:avLst/>
          </a:prstGeom>
          <a:noFill/>
        </p:spPr>
        <p:txBody>
          <a:bodyPr wrap="square">
            <a:spAutoFit/>
          </a:bodyPr>
          <a:lstStyle/>
          <a:p>
            <a:pPr algn="ctr"/>
            <a:r>
              <a:rPr sz="1400" b="1" i="0">
                <a:solidFill>
                  <a:srgbClr val="FFFFFF"/>
                </a:solidFill>
                <a:latin typeface="Calibri"/>
              </a:rPr>
              <a:t>Prediction: PHISHING / LEGITIMATE  +  Confidence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Dataset Details</a:t>
            </a:r>
          </a:p>
        </p:txBody>
      </p:sp>
      <p:sp>
        <p:nvSpPr>
          <p:cNvPr id="4" name="TextBox 3"/>
          <p:cNvSpPr txBox="1"/>
          <p:nvPr/>
        </p:nvSpPr>
        <p:spPr>
          <a:xfrm>
            <a:off x="274320" y="777240"/>
            <a:ext cx="10972800" cy="365760"/>
          </a:xfrm>
          <a:prstGeom prst="rect">
            <a:avLst/>
          </a:prstGeom>
          <a:noFill/>
        </p:spPr>
        <p:txBody>
          <a:bodyPr wrap="square">
            <a:spAutoFit/>
          </a:bodyPr>
          <a:lstStyle/>
          <a:p>
            <a:pPr algn="l"/>
            <a:r>
              <a:rPr sz="1400" b="0" i="0">
                <a:solidFill>
                  <a:srgbClr val="00B4D8"/>
                </a:solidFill>
                <a:latin typeface="Calibri"/>
              </a:rPr>
              <a:t>Source, size, and class distribution</a:t>
            </a:r>
          </a:p>
        </p:txBody>
      </p:sp>
      <p:sp>
        <p:nvSpPr>
          <p:cNvPr id="5" name="Rectangle 4"/>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5 / 17</a:t>
            </a:r>
          </a:p>
        </p:txBody>
      </p:sp>
      <p:graphicFrame>
        <p:nvGraphicFramePr>
          <p:cNvPr id="7" name="Table 6"/>
          <p:cNvGraphicFramePr>
            <a:graphicFrameLocks noGrp="1"/>
          </p:cNvGraphicFramePr>
          <p:nvPr/>
        </p:nvGraphicFramePr>
        <p:xfrm>
          <a:off x="365760" y="1371600"/>
          <a:ext cx="11430000" cy="4754880"/>
        </p:xfrm>
        <a:graphic>
          <a:graphicData uri="http://schemas.openxmlformats.org/drawingml/2006/table">
            <a:tbl>
              <a:tblPr firstRow="1" bandRow="1">
                <a:tableStyleId>{5C22544A-7EE6-4342-B048-85BDC9FD1C3A}</a:tableStyleId>
              </a:tblPr>
              <a:tblGrid>
                <a:gridCol w="5715000"/>
                <a:gridCol w="5715000"/>
              </a:tblGrid>
              <a:tr h="528320">
                <a:tc>
                  <a:txBody>
                    <a:bodyPr/>
                    <a:lstStyle/>
                    <a:p>
                      <a:pPr algn="ctr"/>
                      <a:r>
                        <a:rPr b="1" sz="1200">
                          <a:solidFill>
                            <a:srgbClr val="FFFFFF"/>
                          </a:solidFill>
                          <a:latin typeface="Calibri"/>
                        </a:rPr>
                        <a:t>Property</a:t>
                      </a:r>
                    </a:p>
                  </a:txBody>
                  <a:tcPr>
                    <a:solidFill>
                      <a:srgbClr val="1B3A6B"/>
                    </a:solidFill>
                  </a:tcPr>
                </a:tc>
                <a:tc>
                  <a:txBody>
                    <a:bodyPr/>
                    <a:lstStyle/>
                    <a:p>
                      <a:pPr algn="ctr"/>
                      <a:r>
                        <a:rPr b="1" sz="1200">
                          <a:solidFill>
                            <a:srgbClr val="FFFFFF"/>
                          </a:solidFill>
                          <a:latin typeface="Calibri"/>
                        </a:rPr>
                        <a:t>Value</a:t>
                      </a:r>
                    </a:p>
                  </a:txBody>
                  <a:tcPr>
                    <a:solidFill>
                      <a:srgbClr val="1B3A6B"/>
                    </a:solidFill>
                  </a:tcPr>
                </a:tc>
              </a:tr>
              <a:tr h="528320">
                <a:tc>
                  <a:txBody>
                    <a:bodyPr/>
                    <a:lstStyle/>
                    <a:p>
                      <a:pPr algn="ctr"/>
                      <a:r>
                        <a:rPr sz="1200">
                          <a:solidFill>
                            <a:srgbClr val="1B3A6B"/>
                          </a:solidFill>
                          <a:latin typeface="Calibri"/>
                        </a:rPr>
                        <a:t>Total URLs</a:t>
                      </a:r>
                    </a:p>
                  </a:txBody>
                  <a:tcPr>
                    <a:solidFill>
                      <a:srgbClr val="D6EAF8"/>
                    </a:solidFill>
                  </a:tcPr>
                </a:tc>
                <a:tc>
                  <a:txBody>
                    <a:bodyPr/>
                    <a:lstStyle/>
                    <a:p>
                      <a:pPr algn="ctr"/>
                      <a:r>
                        <a:rPr sz="1200">
                          <a:solidFill>
                            <a:srgbClr val="1B3A6B"/>
                          </a:solidFill>
                          <a:latin typeface="Calibri"/>
                        </a:rPr>
                        <a:t>10,000</a:t>
                      </a:r>
                    </a:p>
                  </a:txBody>
                  <a:tcPr>
                    <a:solidFill>
                      <a:srgbClr val="D6EAF8"/>
                    </a:solidFill>
                  </a:tcPr>
                </a:tc>
              </a:tr>
              <a:tr h="528320">
                <a:tc>
                  <a:txBody>
                    <a:bodyPr/>
                    <a:lstStyle/>
                    <a:p>
                      <a:pPr algn="ctr"/>
                      <a:r>
                        <a:rPr sz="1200">
                          <a:solidFill>
                            <a:srgbClr val="1B3A6B"/>
                          </a:solidFill>
                          <a:latin typeface="Calibri"/>
                        </a:rPr>
                        <a:t>Phishing (label = 1)</a:t>
                      </a:r>
                    </a:p>
                  </a:txBody>
                  <a:tcPr>
                    <a:solidFill>
                      <a:srgbClr val="FFFFFF"/>
                    </a:solidFill>
                  </a:tcPr>
                </a:tc>
                <a:tc>
                  <a:txBody>
                    <a:bodyPr/>
                    <a:lstStyle/>
                    <a:p>
                      <a:pPr algn="ctr"/>
                      <a:r>
                        <a:rPr sz="1200">
                          <a:solidFill>
                            <a:srgbClr val="1B3A6B"/>
                          </a:solidFill>
                          <a:latin typeface="Calibri"/>
                        </a:rPr>
                        <a:t>5,000  (50%)  — Source: PhishTank verified feed</a:t>
                      </a:r>
                    </a:p>
                  </a:txBody>
                  <a:tcPr>
                    <a:solidFill>
                      <a:srgbClr val="FFFFFF"/>
                    </a:solidFill>
                  </a:tcPr>
                </a:tc>
              </a:tr>
              <a:tr h="528320">
                <a:tc>
                  <a:txBody>
                    <a:bodyPr/>
                    <a:lstStyle/>
                    <a:p>
                      <a:pPr algn="ctr"/>
                      <a:r>
                        <a:rPr sz="1200">
                          <a:solidFill>
                            <a:srgbClr val="1B3A6B"/>
                          </a:solidFill>
                          <a:latin typeface="Calibri"/>
                        </a:rPr>
                        <a:t>Legitimate (label = 0)</a:t>
                      </a:r>
                    </a:p>
                  </a:txBody>
                  <a:tcPr>
                    <a:solidFill>
                      <a:srgbClr val="D6EAF8"/>
                    </a:solidFill>
                  </a:tcPr>
                </a:tc>
                <a:tc>
                  <a:txBody>
                    <a:bodyPr/>
                    <a:lstStyle/>
                    <a:p>
                      <a:pPr algn="ctr"/>
                      <a:r>
                        <a:rPr sz="1200">
                          <a:solidFill>
                            <a:srgbClr val="1B3A6B"/>
                          </a:solidFill>
                          <a:latin typeface="Calibri"/>
                        </a:rPr>
                        <a:t>5,000  (50%)  — Source: Tranco Top-1M + UNB Benign List</a:t>
                      </a:r>
                    </a:p>
                  </a:txBody>
                  <a:tcPr>
                    <a:solidFill>
                      <a:srgbClr val="D6EAF8"/>
                    </a:solidFill>
                  </a:tcPr>
                </a:tc>
              </a:tr>
              <a:tr h="528320">
                <a:tc>
                  <a:txBody>
                    <a:bodyPr/>
                    <a:lstStyle/>
                    <a:p>
                      <a:pPr algn="ctr"/>
                      <a:r>
                        <a:rPr sz="1200">
                          <a:solidFill>
                            <a:srgbClr val="1B3A6B"/>
                          </a:solidFill>
                          <a:latin typeface="Calibri"/>
                        </a:rPr>
                        <a:t>Train set (80%)</a:t>
                      </a:r>
                    </a:p>
                  </a:txBody>
                  <a:tcPr>
                    <a:solidFill>
                      <a:srgbClr val="FFFFFF"/>
                    </a:solidFill>
                  </a:tcPr>
                </a:tc>
                <a:tc>
                  <a:txBody>
                    <a:bodyPr/>
                    <a:lstStyle/>
                    <a:p>
                      <a:pPr algn="ctr"/>
                      <a:r>
                        <a:rPr sz="1200">
                          <a:solidFill>
                            <a:srgbClr val="1B3A6B"/>
                          </a:solidFill>
                          <a:latin typeface="Calibri"/>
                        </a:rPr>
                        <a:t>8,000 URLs</a:t>
                      </a:r>
                    </a:p>
                  </a:txBody>
                  <a:tcPr>
                    <a:solidFill>
                      <a:srgbClr val="FFFFFF"/>
                    </a:solidFill>
                  </a:tcPr>
                </a:tc>
              </a:tr>
              <a:tr h="528320">
                <a:tc>
                  <a:txBody>
                    <a:bodyPr/>
                    <a:lstStyle/>
                    <a:p>
                      <a:pPr algn="ctr"/>
                      <a:r>
                        <a:rPr sz="1200">
                          <a:solidFill>
                            <a:srgbClr val="1B3A6B"/>
                          </a:solidFill>
                          <a:latin typeface="Calibri"/>
                        </a:rPr>
                        <a:t>Test set (20%)</a:t>
                      </a:r>
                    </a:p>
                  </a:txBody>
                  <a:tcPr>
                    <a:solidFill>
                      <a:srgbClr val="D6EAF8"/>
                    </a:solidFill>
                  </a:tcPr>
                </a:tc>
                <a:tc>
                  <a:txBody>
                    <a:bodyPr/>
                    <a:lstStyle/>
                    <a:p>
                      <a:pPr algn="ctr"/>
                      <a:r>
                        <a:rPr sz="1200">
                          <a:solidFill>
                            <a:srgbClr val="1B3A6B"/>
                          </a:solidFill>
                          <a:latin typeface="Calibri"/>
                        </a:rPr>
                        <a:t>2,000 URLs</a:t>
                      </a:r>
                    </a:p>
                  </a:txBody>
                  <a:tcPr>
                    <a:solidFill>
                      <a:srgbClr val="D6EAF8"/>
                    </a:solidFill>
                  </a:tcPr>
                </a:tc>
              </a:tr>
              <a:tr h="528320">
                <a:tc>
                  <a:txBody>
                    <a:bodyPr/>
                    <a:lstStyle/>
                    <a:p>
                      <a:pPr algn="ctr"/>
                      <a:r>
                        <a:rPr sz="1200">
                          <a:solidFill>
                            <a:srgbClr val="1B3A6B"/>
                          </a:solidFill>
                          <a:latin typeface="Calibri"/>
                        </a:rPr>
                        <a:t>Duplicate removal</a:t>
                      </a:r>
                    </a:p>
                  </a:txBody>
                  <a:tcPr>
                    <a:solidFill>
                      <a:srgbClr val="FFFFFF"/>
                    </a:solidFill>
                  </a:tcPr>
                </a:tc>
                <a:tc>
                  <a:txBody>
                    <a:bodyPr/>
                    <a:lstStyle/>
                    <a:p>
                      <a:pPr algn="ctr"/>
                      <a:r>
                        <a:rPr sz="1200">
                          <a:solidFill>
                            <a:srgbClr val="1B3A6B"/>
                          </a:solidFill>
                          <a:latin typeface="Calibri"/>
                        </a:rPr>
                        <a:t>Applied — URL-level deduplication</a:t>
                      </a:r>
                    </a:p>
                  </a:txBody>
                  <a:tcPr>
                    <a:solidFill>
                      <a:srgbClr val="FFFFFF"/>
                    </a:solidFill>
                  </a:tcPr>
                </a:tc>
              </a:tr>
              <a:tr h="528320">
                <a:tc>
                  <a:txBody>
                    <a:bodyPr/>
                    <a:lstStyle/>
                    <a:p>
                      <a:pPr algn="ctr"/>
                      <a:r>
                        <a:rPr sz="1200">
                          <a:solidFill>
                            <a:srgbClr val="1B3A6B"/>
                          </a:solidFill>
                          <a:latin typeface="Calibri"/>
                        </a:rPr>
                        <a:t>Null handling</a:t>
                      </a:r>
                    </a:p>
                  </a:txBody>
                  <a:tcPr>
                    <a:solidFill>
                      <a:srgbClr val="D6EAF8"/>
                    </a:solidFill>
                  </a:tcPr>
                </a:tc>
                <a:tc>
                  <a:txBody>
                    <a:bodyPr/>
                    <a:lstStyle/>
                    <a:p>
                      <a:pPr algn="ctr"/>
                      <a:r>
                        <a:rPr sz="1200">
                          <a:solidFill>
                            <a:srgbClr val="1B3A6B"/>
                          </a:solidFill>
                          <a:latin typeface="Calibri"/>
                        </a:rPr>
                        <a:t>Applied — rows with empty URL dropped</a:t>
                      </a:r>
                    </a:p>
                  </a:txBody>
                  <a:tcPr>
                    <a:solidFill>
                      <a:srgbClr val="D6EAF8"/>
                    </a:solidFill>
                  </a:tcPr>
                </a:tc>
              </a:tr>
              <a:tr h="528320">
                <a:tc>
                  <a:txBody>
                    <a:bodyPr/>
                    <a:lstStyle/>
                    <a:p>
                      <a:pPr algn="ctr"/>
                      <a:r>
                        <a:rPr sz="1200">
                          <a:solidFill>
                            <a:srgbClr val="1B3A6B"/>
                          </a:solidFill>
                          <a:latin typeface="Calibri"/>
                        </a:rPr>
                        <a:t>Class balance</a:t>
                      </a:r>
                    </a:p>
                  </a:txBody>
                  <a:tcPr>
                    <a:solidFill>
                      <a:srgbClr val="FFFFFF"/>
                    </a:solidFill>
                  </a:tcPr>
                </a:tc>
                <a:tc>
                  <a:txBody>
                    <a:bodyPr/>
                    <a:lstStyle/>
                    <a:p>
                      <a:pPr algn="ctr"/>
                      <a:r>
                        <a:rPr sz="1200">
                          <a:solidFill>
                            <a:srgbClr val="1B3A6B"/>
                          </a:solidFill>
                          <a:latin typeface="Calibri"/>
                        </a:rPr>
                        <a:t>Perfectly balanced (stratified split used)</a:t>
                      </a:r>
                    </a:p>
                  </a:txBody>
                  <a:tcPr>
                    <a:solidFill>
                      <a:srgbClr val="FFFFFF"/>
                    </a:solidFill>
                  </a:tcPr>
                </a:tc>
              </a:tr>
            </a:tbl>
          </a:graphicData>
        </a:graphic>
      </p:graphicFrame>
      <p:sp>
        <p:nvSpPr>
          <p:cNvPr id="8" name="TextBox 7"/>
          <p:cNvSpPr txBox="1"/>
          <p:nvPr/>
        </p:nvSpPr>
        <p:spPr>
          <a:xfrm>
            <a:off x="365760" y="5989320"/>
            <a:ext cx="11430000" cy="640080"/>
          </a:xfrm>
          <a:prstGeom prst="rect">
            <a:avLst/>
          </a:prstGeom>
          <a:noFill/>
        </p:spPr>
        <p:txBody>
          <a:bodyPr wrap="square">
            <a:spAutoFit/>
          </a:bodyPr>
          <a:lstStyle/>
          <a:p>
            <a:pPr algn="l"/>
            <a:r>
              <a:rPr sz="1100" b="0" i="1">
                <a:solidFill>
                  <a:srgbClr val="F39C12"/>
                </a:solidFill>
                <a:latin typeface="Calibri"/>
              </a:rPr>
              <a:t>[INSERT: Bar chart of class distribution — 5000 Phishing vs 5000 Legitimate]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Data Cleaning &amp; Preprocessing</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6 / 17</a:t>
            </a:r>
          </a:p>
        </p:txBody>
      </p:sp>
      <p:sp>
        <p:nvSpPr>
          <p:cNvPr id="6" name="TextBox 5"/>
          <p:cNvSpPr txBox="1"/>
          <p:nvPr/>
        </p:nvSpPr>
        <p:spPr>
          <a:xfrm>
            <a:off x="365760" y="1325880"/>
            <a:ext cx="11430000" cy="3657600"/>
          </a:xfrm>
          <a:prstGeom prst="rect">
            <a:avLst/>
          </a:prstGeom>
          <a:noFill/>
        </p:spPr>
        <p:txBody>
          <a:bodyPr wrap="square">
            <a:spAutoFit/>
          </a:bodyPr>
          <a:lstStyle/>
          <a:p>
            <a:pPr>
              <a:spcBef>
                <a:spcPts val="600"/>
              </a:spcBef>
            </a:pPr>
            <a:r>
              <a:rPr sz="1400">
                <a:solidFill>
                  <a:srgbClr val="1B3A6B"/>
                </a:solidFill>
                <a:latin typeface="Calibri"/>
              </a:rPr>
              <a:t>• Step 1 — Load raw PhishTank CSV and Tranco/UNB legitimate URL list into pandas DataFrame.</a:t>
            </a:r>
          </a:p>
          <a:p>
            <a:pPr>
              <a:spcBef>
                <a:spcPts val="600"/>
              </a:spcBef>
            </a:pPr>
            <a:r>
              <a:rPr sz="1400">
                <a:solidFill>
                  <a:srgbClr val="1B3A6B"/>
                </a:solidFill>
                <a:latin typeface="Calibri"/>
              </a:rPr>
              <a:t>• Step 2 — Remove duplicate URLs (df.drop_duplicates('url')).</a:t>
            </a:r>
          </a:p>
          <a:p>
            <a:pPr>
              <a:spcBef>
                <a:spcPts val="600"/>
              </a:spcBef>
            </a:pPr>
            <a:r>
              <a:rPr sz="1400">
                <a:solidFill>
                  <a:srgbClr val="1B3A6B"/>
                </a:solidFill>
                <a:latin typeface="Calibri"/>
              </a:rPr>
              <a:t>• Step 3 — Drop rows with null or empty URL values (df.dropna(subset=['url'])).</a:t>
            </a:r>
          </a:p>
          <a:p>
            <a:pPr>
              <a:spcBef>
                <a:spcPts val="600"/>
              </a:spcBef>
            </a:pPr>
            <a:r>
              <a:rPr sz="1400">
                <a:solidFill>
                  <a:srgbClr val="1B3A6B"/>
                </a:solidFill>
                <a:latin typeface="Calibri"/>
              </a:rPr>
              <a:t>• Step 4 — Balance classes: sample 5,000 from each label using stratified selection.</a:t>
            </a:r>
          </a:p>
          <a:p>
            <a:pPr>
              <a:spcBef>
                <a:spcPts val="600"/>
              </a:spcBef>
            </a:pPr>
            <a:r>
              <a:rPr sz="1400">
                <a:solidFill>
                  <a:srgbClr val="1B3A6B"/>
                </a:solidFill>
                <a:latin typeface="Calibri"/>
              </a:rPr>
              <a:t>• Step 5 — Apply extract_features() to each URL → build 15-column feature matrix.</a:t>
            </a:r>
          </a:p>
          <a:p>
            <a:pPr>
              <a:spcBef>
                <a:spcPts val="600"/>
              </a:spcBef>
            </a:pPr>
            <a:r>
              <a:rPr sz="1400">
                <a:solidFill>
                  <a:srgbClr val="1B3A6B"/>
                </a:solidFill>
                <a:latin typeface="Calibri"/>
              </a:rPr>
              <a:t>• Step 6 — Train/test split with stratify=y to maintain 50/50 ratio in both sets.</a:t>
            </a:r>
          </a:p>
        </p:txBody>
      </p:sp>
      <p:sp>
        <p:nvSpPr>
          <p:cNvPr id="7" name="TextBox 6"/>
          <p:cNvSpPr txBox="1"/>
          <p:nvPr/>
        </p:nvSpPr>
        <p:spPr>
          <a:xfrm>
            <a:off x="365760" y="5166360"/>
            <a:ext cx="11430000" cy="548640"/>
          </a:xfrm>
          <a:prstGeom prst="rect">
            <a:avLst/>
          </a:prstGeom>
          <a:noFill/>
        </p:spPr>
        <p:txBody>
          <a:bodyPr wrap="square">
            <a:spAutoFit/>
          </a:bodyPr>
          <a:lstStyle/>
          <a:p>
            <a:pPr algn="l"/>
            <a:r>
              <a:rPr sz="1200" b="0" i="1">
                <a:solidFill>
                  <a:srgbClr val="F39C12"/>
                </a:solidFill>
                <a:latin typeface="Calibri"/>
              </a:rPr>
              <a:t>[INSERT SCREENSHOT: Jupyter notebook cell showing df.head() and df.info()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Feature Extraction</a:t>
            </a:r>
          </a:p>
        </p:txBody>
      </p:sp>
      <p:sp>
        <p:nvSpPr>
          <p:cNvPr id="4" name="TextBox 3"/>
          <p:cNvSpPr txBox="1"/>
          <p:nvPr/>
        </p:nvSpPr>
        <p:spPr>
          <a:xfrm>
            <a:off x="274320" y="777240"/>
            <a:ext cx="10972800" cy="365760"/>
          </a:xfrm>
          <a:prstGeom prst="rect">
            <a:avLst/>
          </a:prstGeom>
          <a:noFill/>
        </p:spPr>
        <p:txBody>
          <a:bodyPr wrap="square">
            <a:spAutoFit/>
          </a:bodyPr>
          <a:lstStyle/>
          <a:p>
            <a:pPr algn="l"/>
            <a:r>
              <a:rPr sz="1400" b="0" i="0">
                <a:solidFill>
                  <a:srgbClr val="00B4D8"/>
                </a:solidFill>
                <a:latin typeface="Calibri"/>
              </a:rPr>
              <a:t>15 Lexical URL Features</a:t>
            </a:r>
          </a:p>
        </p:txBody>
      </p:sp>
      <p:sp>
        <p:nvSpPr>
          <p:cNvPr id="5" name="Rectangle 4"/>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7 / 17</a:t>
            </a:r>
          </a:p>
        </p:txBody>
      </p:sp>
      <p:graphicFrame>
        <p:nvGraphicFramePr>
          <p:cNvPr id="7" name="Table 6"/>
          <p:cNvGraphicFramePr>
            <a:graphicFrameLocks noGrp="1"/>
          </p:cNvGraphicFramePr>
          <p:nvPr/>
        </p:nvGraphicFramePr>
        <p:xfrm>
          <a:off x="365760" y="1325880"/>
          <a:ext cx="11430000" cy="5257800"/>
        </p:xfrm>
        <a:graphic>
          <a:graphicData uri="http://schemas.openxmlformats.org/drawingml/2006/table">
            <a:tbl>
              <a:tblPr firstRow="1" bandRow="1">
                <a:tableStyleId>{5C22544A-7EE6-4342-B048-85BDC9FD1C3A}</a:tableStyleId>
              </a:tblPr>
              <a:tblGrid>
                <a:gridCol w="2857500"/>
                <a:gridCol w="2857500"/>
                <a:gridCol w="2857500"/>
                <a:gridCol w="2857500"/>
              </a:tblGrid>
              <a:tr h="328612">
                <a:tc>
                  <a:txBody>
                    <a:bodyPr/>
                    <a:lstStyle/>
                    <a:p>
                      <a:pPr algn="ctr"/>
                      <a:r>
                        <a:rPr b="1" sz="1000">
                          <a:solidFill>
                            <a:srgbClr val="FFFFFF"/>
                          </a:solidFill>
                          <a:latin typeface="Calibri"/>
                        </a:rPr>
                        <a:t>#</a:t>
                      </a:r>
                    </a:p>
                  </a:txBody>
                  <a:tcPr>
                    <a:solidFill>
                      <a:srgbClr val="1B3A6B"/>
                    </a:solidFill>
                  </a:tcPr>
                </a:tc>
                <a:tc>
                  <a:txBody>
                    <a:bodyPr/>
                    <a:lstStyle/>
                    <a:p>
                      <a:pPr algn="ctr"/>
                      <a:r>
                        <a:rPr b="1" sz="1000">
                          <a:solidFill>
                            <a:srgbClr val="FFFFFF"/>
                          </a:solidFill>
                          <a:latin typeface="Calibri"/>
                        </a:rPr>
                        <a:t>Feature Name</a:t>
                      </a:r>
                    </a:p>
                  </a:txBody>
                  <a:tcPr>
                    <a:solidFill>
                      <a:srgbClr val="1B3A6B"/>
                    </a:solidFill>
                  </a:tcPr>
                </a:tc>
                <a:tc>
                  <a:txBody>
                    <a:bodyPr/>
                    <a:lstStyle/>
                    <a:p>
                      <a:pPr algn="ctr"/>
                      <a:r>
                        <a:rPr b="1" sz="1000">
                          <a:solidFill>
                            <a:srgbClr val="FFFFFF"/>
                          </a:solidFill>
                          <a:latin typeface="Calibri"/>
                        </a:rPr>
                        <a:t>Description</a:t>
                      </a:r>
                    </a:p>
                  </a:txBody>
                  <a:tcPr>
                    <a:solidFill>
                      <a:srgbClr val="1B3A6B"/>
                    </a:solidFill>
                  </a:tcPr>
                </a:tc>
                <a:tc>
                  <a:txBody>
                    <a:bodyPr/>
                    <a:lstStyle/>
                    <a:p>
                      <a:pPr algn="ctr"/>
                      <a:r>
                        <a:rPr b="1" sz="1000">
                          <a:solidFill>
                            <a:srgbClr val="FFFFFF"/>
                          </a:solidFill>
                          <a:latin typeface="Calibri"/>
                        </a:rPr>
                        <a:t>Example Value</a:t>
                      </a:r>
                    </a:p>
                  </a:txBody>
                  <a:tcPr>
                    <a:solidFill>
                      <a:srgbClr val="1B3A6B"/>
                    </a:solidFill>
                  </a:tcPr>
                </a:tc>
              </a:tr>
              <a:tr h="328612">
                <a:tc>
                  <a:txBody>
                    <a:bodyPr/>
                    <a:lstStyle/>
                    <a:p>
                      <a:pPr algn="ctr"/>
                      <a:r>
                        <a:rPr sz="1000">
                          <a:solidFill>
                            <a:srgbClr val="1B3A6B"/>
                          </a:solidFill>
                          <a:latin typeface="Calibri"/>
                        </a:rPr>
                        <a:t>1</a:t>
                      </a:r>
                    </a:p>
                  </a:txBody>
                  <a:tcPr>
                    <a:solidFill>
                      <a:srgbClr val="D6EAF8"/>
                    </a:solidFill>
                  </a:tcPr>
                </a:tc>
                <a:tc>
                  <a:txBody>
                    <a:bodyPr/>
                    <a:lstStyle/>
                    <a:p>
                      <a:pPr algn="ctr"/>
                      <a:r>
                        <a:rPr sz="1000">
                          <a:solidFill>
                            <a:srgbClr val="1B3A6B"/>
                          </a:solidFill>
                          <a:latin typeface="Calibri"/>
                        </a:rPr>
                        <a:t>url_length</a:t>
                      </a:r>
                    </a:p>
                  </a:txBody>
                  <a:tcPr>
                    <a:solidFill>
                      <a:srgbClr val="D6EAF8"/>
                    </a:solidFill>
                  </a:tcPr>
                </a:tc>
                <a:tc>
                  <a:txBody>
                    <a:bodyPr/>
                    <a:lstStyle/>
                    <a:p>
                      <a:pPr algn="ctr"/>
                      <a:r>
                        <a:rPr sz="1000">
                          <a:solidFill>
                            <a:srgbClr val="1B3A6B"/>
                          </a:solidFill>
                          <a:latin typeface="Calibri"/>
                        </a:rPr>
                        <a:t>Total character count of URL</a:t>
                      </a:r>
                    </a:p>
                  </a:txBody>
                  <a:tcPr>
                    <a:solidFill>
                      <a:srgbClr val="D6EAF8"/>
                    </a:solidFill>
                  </a:tcPr>
                </a:tc>
                <a:tc>
                  <a:txBody>
                    <a:bodyPr/>
                    <a:lstStyle/>
                    <a:p>
                      <a:pPr algn="ctr"/>
                      <a:r>
                        <a:rPr sz="1000">
                          <a:solidFill>
                            <a:srgbClr val="1B3A6B"/>
                          </a:solidFill>
                          <a:latin typeface="Calibri"/>
                        </a:rPr>
                        <a:t>54</a:t>
                      </a:r>
                    </a:p>
                  </a:txBody>
                  <a:tcPr>
                    <a:solidFill>
                      <a:srgbClr val="D6EAF8"/>
                    </a:solidFill>
                  </a:tcPr>
                </a:tc>
              </a:tr>
              <a:tr h="328612">
                <a:tc>
                  <a:txBody>
                    <a:bodyPr/>
                    <a:lstStyle/>
                    <a:p>
                      <a:pPr algn="ctr"/>
                      <a:r>
                        <a:rPr sz="1000">
                          <a:solidFill>
                            <a:srgbClr val="1B3A6B"/>
                          </a:solidFill>
                          <a:latin typeface="Calibri"/>
                        </a:rPr>
                        <a:t>2</a:t>
                      </a:r>
                    </a:p>
                  </a:txBody>
                  <a:tcPr>
                    <a:solidFill>
                      <a:srgbClr val="FFFFFF"/>
                    </a:solidFill>
                  </a:tcPr>
                </a:tc>
                <a:tc>
                  <a:txBody>
                    <a:bodyPr/>
                    <a:lstStyle/>
                    <a:p>
                      <a:pPr algn="ctr"/>
                      <a:r>
                        <a:rPr sz="1000">
                          <a:solidFill>
                            <a:srgbClr val="1B3A6B"/>
                          </a:solidFill>
                          <a:latin typeface="Calibri"/>
                        </a:rPr>
                        <a:t>hostname_length</a:t>
                      </a:r>
                    </a:p>
                  </a:txBody>
                  <a:tcPr>
                    <a:solidFill>
                      <a:srgbClr val="FFFFFF"/>
                    </a:solidFill>
                  </a:tcPr>
                </a:tc>
                <a:tc>
                  <a:txBody>
                    <a:bodyPr/>
                    <a:lstStyle/>
                    <a:p>
                      <a:pPr algn="ctr"/>
                      <a:r>
                        <a:rPr sz="1000">
                          <a:solidFill>
                            <a:srgbClr val="1B3A6B"/>
                          </a:solidFill>
                          <a:latin typeface="Calibri"/>
                        </a:rPr>
                        <a:t>Length of hostname segment</a:t>
                      </a:r>
                    </a:p>
                  </a:txBody>
                  <a:tcPr>
                    <a:solidFill>
                      <a:srgbClr val="FFFFFF"/>
                    </a:solidFill>
                  </a:tcPr>
                </a:tc>
                <a:tc>
                  <a:txBody>
                    <a:bodyPr/>
                    <a:lstStyle/>
                    <a:p>
                      <a:pPr algn="ctr"/>
                      <a:r>
                        <a:rPr sz="1000">
                          <a:solidFill>
                            <a:srgbClr val="1B3A6B"/>
                          </a:solidFill>
                          <a:latin typeface="Calibri"/>
                        </a:rPr>
                        <a:t>22</a:t>
                      </a:r>
                    </a:p>
                  </a:txBody>
                  <a:tcPr>
                    <a:solidFill>
                      <a:srgbClr val="FFFFFF"/>
                    </a:solidFill>
                  </a:tcPr>
                </a:tc>
              </a:tr>
              <a:tr h="328612">
                <a:tc>
                  <a:txBody>
                    <a:bodyPr/>
                    <a:lstStyle/>
                    <a:p>
                      <a:pPr algn="ctr"/>
                      <a:r>
                        <a:rPr sz="1000">
                          <a:solidFill>
                            <a:srgbClr val="1B3A6B"/>
                          </a:solidFill>
                          <a:latin typeface="Calibri"/>
                        </a:rPr>
                        <a:t>3</a:t>
                      </a:r>
                    </a:p>
                  </a:txBody>
                  <a:tcPr>
                    <a:solidFill>
                      <a:srgbClr val="D6EAF8"/>
                    </a:solidFill>
                  </a:tcPr>
                </a:tc>
                <a:tc>
                  <a:txBody>
                    <a:bodyPr/>
                    <a:lstStyle/>
                    <a:p>
                      <a:pPr algn="ctr"/>
                      <a:r>
                        <a:rPr sz="1000">
                          <a:solidFill>
                            <a:srgbClr val="1B3A6B"/>
                          </a:solidFill>
                          <a:latin typeface="Calibri"/>
                        </a:rPr>
                        <a:t>num_dots</a:t>
                      </a:r>
                    </a:p>
                  </a:txBody>
                  <a:tcPr>
                    <a:solidFill>
                      <a:srgbClr val="D6EAF8"/>
                    </a:solidFill>
                  </a:tcPr>
                </a:tc>
                <a:tc>
                  <a:txBody>
                    <a:bodyPr/>
                    <a:lstStyle/>
                    <a:p>
                      <a:pPr algn="ctr"/>
                      <a:r>
                        <a:rPr sz="1000">
                          <a:solidFill>
                            <a:srgbClr val="1B3A6B"/>
                          </a:solidFill>
                          <a:latin typeface="Calibri"/>
                        </a:rPr>
                        <a:t>Count of '.' in URL</a:t>
                      </a:r>
                    </a:p>
                  </a:txBody>
                  <a:tcPr>
                    <a:solidFill>
                      <a:srgbClr val="D6EAF8"/>
                    </a:solidFill>
                  </a:tcPr>
                </a:tc>
                <a:tc>
                  <a:txBody>
                    <a:bodyPr/>
                    <a:lstStyle/>
                    <a:p>
                      <a:pPr algn="ctr"/>
                      <a:r>
                        <a:rPr sz="1000">
                          <a:solidFill>
                            <a:srgbClr val="1B3A6B"/>
                          </a:solidFill>
                          <a:latin typeface="Calibri"/>
                        </a:rPr>
                        <a:t>3</a:t>
                      </a:r>
                    </a:p>
                  </a:txBody>
                  <a:tcPr>
                    <a:solidFill>
                      <a:srgbClr val="D6EAF8"/>
                    </a:solidFill>
                  </a:tcPr>
                </a:tc>
              </a:tr>
              <a:tr h="328612">
                <a:tc>
                  <a:txBody>
                    <a:bodyPr/>
                    <a:lstStyle/>
                    <a:p>
                      <a:pPr algn="ctr"/>
                      <a:r>
                        <a:rPr sz="1000">
                          <a:solidFill>
                            <a:srgbClr val="1B3A6B"/>
                          </a:solidFill>
                          <a:latin typeface="Calibri"/>
                        </a:rPr>
                        <a:t>4</a:t>
                      </a:r>
                    </a:p>
                  </a:txBody>
                  <a:tcPr>
                    <a:solidFill>
                      <a:srgbClr val="FFFFFF"/>
                    </a:solidFill>
                  </a:tcPr>
                </a:tc>
                <a:tc>
                  <a:txBody>
                    <a:bodyPr/>
                    <a:lstStyle/>
                    <a:p>
                      <a:pPr algn="ctr"/>
                      <a:r>
                        <a:rPr sz="1000">
                          <a:solidFill>
                            <a:srgbClr val="1B3A6B"/>
                          </a:solidFill>
                          <a:latin typeface="Calibri"/>
                        </a:rPr>
                        <a:t>num_hyphens</a:t>
                      </a:r>
                    </a:p>
                  </a:txBody>
                  <a:tcPr>
                    <a:solidFill>
                      <a:srgbClr val="FFFFFF"/>
                    </a:solidFill>
                  </a:tcPr>
                </a:tc>
                <a:tc>
                  <a:txBody>
                    <a:bodyPr/>
                    <a:lstStyle/>
                    <a:p>
                      <a:pPr algn="ctr"/>
                      <a:r>
                        <a:rPr sz="1000">
                          <a:solidFill>
                            <a:srgbClr val="1B3A6B"/>
                          </a:solidFill>
                          <a:latin typeface="Calibri"/>
                        </a:rPr>
                        <a:t>Count of '-' in URL</a:t>
                      </a:r>
                    </a:p>
                  </a:txBody>
                  <a:tcPr>
                    <a:solidFill>
                      <a:srgbClr val="FFFFFF"/>
                    </a:solidFill>
                  </a:tcPr>
                </a:tc>
                <a:tc>
                  <a:txBody>
                    <a:bodyPr/>
                    <a:lstStyle/>
                    <a:p>
                      <a:pPr algn="ctr"/>
                      <a:r>
                        <a:rPr sz="1000">
                          <a:solidFill>
                            <a:srgbClr val="1B3A6B"/>
                          </a:solidFill>
                          <a:latin typeface="Calibri"/>
                        </a:rPr>
                        <a:t>2</a:t>
                      </a:r>
                    </a:p>
                  </a:txBody>
                  <a:tcPr>
                    <a:solidFill>
                      <a:srgbClr val="FFFFFF"/>
                    </a:solidFill>
                  </a:tcPr>
                </a:tc>
              </a:tr>
              <a:tr h="328612">
                <a:tc>
                  <a:txBody>
                    <a:bodyPr/>
                    <a:lstStyle/>
                    <a:p>
                      <a:pPr algn="ctr"/>
                      <a:r>
                        <a:rPr sz="1000">
                          <a:solidFill>
                            <a:srgbClr val="1B3A6B"/>
                          </a:solidFill>
                          <a:latin typeface="Calibri"/>
                        </a:rPr>
                        <a:t>5</a:t>
                      </a:r>
                    </a:p>
                  </a:txBody>
                  <a:tcPr>
                    <a:solidFill>
                      <a:srgbClr val="D6EAF8"/>
                    </a:solidFill>
                  </a:tcPr>
                </a:tc>
                <a:tc>
                  <a:txBody>
                    <a:bodyPr/>
                    <a:lstStyle/>
                    <a:p>
                      <a:pPr algn="ctr"/>
                      <a:r>
                        <a:rPr sz="1000">
                          <a:solidFill>
                            <a:srgbClr val="1B3A6B"/>
                          </a:solidFill>
                          <a:latin typeface="Calibri"/>
                        </a:rPr>
                        <a:t>num_at</a:t>
                      </a:r>
                    </a:p>
                  </a:txBody>
                  <a:tcPr>
                    <a:solidFill>
                      <a:srgbClr val="D6EAF8"/>
                    </a:solidFill>
                  </a:tcPr>
                </a:tc>
                <a:tc>
                  <a:txBody>
                    <a:bodyPr/>
                    <a:lstStyle/>
                    <a:p>
                      <a:pPr algn="ctr"/>
                      <a:r>
                        <a:rPr sz="1000">
                          <a:solidFill>
                            <a:srgbClr val="1B3A6B"/>
                          </a:solidFill>
                          <a:latin typeface="Calibri"/>
                        </a:rPr>
                        <a:t>Count of '@' symbols</a:t>
                      </a:r>
                    </a:p>
                  </a:txBody>
                  <a:tcPr>
                    <a:solidFill>
                      <a:srgbClr val="D6EAF8"/>
                    </a:solidFill>
                  </a:tcPr>
                </a:tc>
                <a:tc>
                  <a:txBody>
                    <a:bodyPr/>
                    <a:lstStyle/>
                    <a:p>
                      <a:pPr algn="ctr"/>
                      <a:r>
                        <a:rPr sz="1000">
                          <a:solidFill>
                            <a:srgbClr val="1B3A6B"/>
                          </a:solidFill>
                          <a:latin typeface="Calibri"/>
                        </a:rPr>
                        <a:t>0</a:t>
                      </a:r>
                    </a:p>
                  </a:txBody>
                  <a:tcPr>
                    <a:solidFill>
                      <a:srgbClr val="D6EAF8"/>
                    </a:solidFill>
                  </a:tcPr>
                </a:tc>
              </a:tr>
              <a:tr h="328612">
                <a:tc>
                  <a:txBody>
                    <a:bodyPr/>
                    <a:lstStyle/>
                    <a:p>
                      <a:pPr algn="ctr"/>
                      <a:r>
                        <a:rPr sz="1000">
                          <a:solidFill>
                            <a:srgbClr val="1B3A6B"/>
                          </a:solidFill>
                          <a:latin typeface="Calibri"/>
                        </a:rPr>
                        <a:t>6</a:t>
                      </a:r>
                    </a:p>
                  </a:txBody>
                  <a:tcPr>
                    <a:solidFill>
                      <a:srgbClr val="FFFFFF"/>
                    </a:solidFill>
                  </a:tcPr>
                </a:tc>
                <a:tc>
                  <a:txBody>
                    <a:bodyPr/>
                    <a:lstStyle/>
                    <a:p>
                      <a:pPr algn="ctr"/>
                      <a:r>
                        <a:rPr sz="1000">
                          <a:solidFill>
                            <a:srgbClr val="1B3A6B"/>
                          </a:solidFill>
                          <a:latin typeface="Calibri"/>
                        </a:rPr>
                        <a:t>num_digits</a:t>
                      </a:r>
                    </a:p>
                  </a:txBody>
                  <a:tcPr>
                    <a:solidFill>
                      <a:srgbClr val="FFFFFF"/>
                    </a:solidFill>
                  </a:tcPr>
                </a:tc>
                <a:tc>
                  <a:txBody>
                    <a:bodyPr/>
                    <a:lstStyle/>
                    <a:p>
                      <a:pPr algn="ctr"/>
                      <a:r>
                        <a:rPr sz="1000">
                          <a:solidFill>
                            <a:srgbClr val="1B3A6B"/>
                          </a:solidFill>
                          <a:latin typeface="Calibri"/>
                        </a:rPr>
                        <a:t>Count of digit characters</a:t>
                      </a:r>
                    </a:p>
                  </a:txBody>
                  <a:tcPr>
                    <a:solidFill>
                      <a:srgbClr val="FFFFFF"/>
                    </a:solidFill>
                  </a:tcPr>
                </a:tc>
                <a:tc>
                  <a:txBody>
                    <a:bodyPr/>
                    <a:lstStyle/>
                    <a:p>
                      <a:pPr algn="ctr"/>
                      <a:r>
                        <a:rPr sz="1000">
                          <a:solidFill>
                            <a:srgbClr val="1B3A6B"/>
                          </a:solidFill>
                          <a:latin typeface="Calibri"/>
                        </a:rPr>
                        <a:t>4</a:t>
                      </a:r>
                    </a:p>
                  </a:txBody>
                  <a:tcPr>
                    <a:solidFill>
                      <a:srgbClr val="FFFFFF"/>
                    </a:solidFill>
                  </a:tcPr>
                </a:tc>
              </a:tr>
              <a:tr h="328612">
                <a:tc>
                  <a:txBody>
                    <a:bodyPr/>
                    <a:lstStyle/>
                    <a:p>
                      <a:pPr algn="ctr"/>
                      <a:r>
                        <a:rPr sz="1000">
                          <a:solidFill>
                            <a:srgbClr val="1B3A6B"/>
                          </a:solidFill>
                          <a:latin typeface="Calibri"/>
                        </a:rPr>
                        <a:t>7</a:t>
                      </a:r>
                    </a:p>
                  </a:txBody>
                  <a:tcPr>
                    <a:solidFill>
                      <a:srgbClr val="D6EAF8"/>
                    </a:solidFill>
                  </a:tcPr>
                </a:tc>
                <a:tc>
                  <a:txBody>
                    <a:bodyPr/>
                    <a:lstStyle/>
                    <a:p>
                      <a:pPr algn="ctr"/>
                      <a:r>
                        <a:rPr sz="1000">
                          <a:solidFill>
                            <a:srgbClr val="1B3A6B"/>
                          </a:solidFill>
                          <a:latin typeface="Calibri"/>
                        </a:rPr>
                        <a:t>num_special_chars</a:t>
                      </a:r>
                    </a:p>
                  </a:txBody>
                  <a:tcPr>
                    <a:solidFill>
                      <a:srgbClr val="D6EAF8"/>
                    </a:solidFill>
                  </a:tcPr>
                </a:tc>
                <a:tc>
                  <a:txBody>
                    <a:bodyPr/>
                    <a:lstStyle/>
                    <a:p>
                      <a:pPr algn="ctr"/>
                      <a:r>
                        <a:rPr sz="1000">
                          <a:solidFill>
                            <a:srgbClr val="1B3A6B"/>
                          </a:solidFill>
                          <a:latin typeface="Calibri"/>
                        </a:rPr>
                        <a:t>Count of special chars (!$%^&amp;*)</a:t>
                      </a:r>
                    </a:p>
                  </a:txBody>
                  <a:tcPr>
                    <a:solidFill>
                      <a:srgbClr val="D6EAF8"/>
                    </a:solidFill>
                  </a:tcPr>
                </a:tc>
                <a:tc>
                  <a:txBody>
                    <a:bodyPr/>
                    <a:lstStyle/>
                    <a:p>
                      <a:pPr algn="ctr"/>
                      <a:r>
                        <a:rPr sz="1000">
                          <a:solidFill>
                            <a:srgbClr val="1B3A6B"/>
                          </a:solidFill>
                          <a:latin typeface="Calibri"/>
                        </a:rPr>
                        <a:t>1</a:t>
                      </a:r>
                    </a:p>
                  </a:txBody>
                  <a:tcPr>
                    <a:solidFill>
                      <a:srgbClr val="D6EAF8"/>
                    </a:solidFill>
                  </a:tcPr>
                </a:tc>
              </a:tr>
              <a:tr h="328612">
                <a:tc>
                  <a:txBody>
                    <a:bodyPr/>
                    <a:lstStyle/>
                    <a:p>
                      <a:pPr algn="ctr"/>
                      <a:r>
                        <a:rPr sz="1000">
                          <a:solidFill>
                            <a:srgbClr val="1B3A6B"/>
                          </a:solidFill>
                          <a:latin typeface="Calibri"/>
                        </a:rPr>
                        <a:t>8</a:t>
                      </a:r>
                    </a:p>
                  </a:txBody>
                  <a:tcPr>
                    <a:solidFill>
                      <a:srgbClr val="FFFFFF"/>
                    </a:solidFill>
                  </a:tcPr>
                </a:tc>
                <a:tc>
                  <a:txBody>
                    <a:bodyPr/>
                    <a:lstStyle/>
                    <a:p>
                      <a:pPr algn="ctr"/>
                      <a:r>
                        <a:rPr sz="1000">
                          <a:solidFill>
                            <a:srgbClr val="1B3A6B"/>
                          </a:solidFill>
                          <a:latin typeface="Calibri"/>
                        </a:rPr>
                        <a:t>has_ip</a:t>
                      </a:r>
                    </a:p>
                  </a:txBody>
                  <a:tcPr>
                    <a:solidFill>
                      <a:srgbClr val="FFFFFF"/>
                    </a:solidFill>
                  </a:tcPr>
                </a:tc>
                <a:tc>
                  <a:txBody>
                    <a:bodyPr/>
                    <a:lstStyle/>
                    <a:p>
                      <a:pPr algn="ctr"/>
                      <a:r>
                        <a:rPr sz="1000">
                          <a:solidFill>
                            <a:srgbClr val="1B3A6B"/>
                          </a:solidFill>
                          <a:latin typeface="Calibri"/>
                        </a:rPr>
                        <a:t>1 if hostname is an IP address</a:t>
                      </a:r>
                    </a:p>
                  </a:txBody>
                  <a:tcPr>
                    <a:solidFill>
                      <a:srgbClr val="FFFFFF"/>
                    </a:solidFill>
                  </a:tcPr>
                </a:tc>
                <a:tc>
                  <a:txBody>
                    <a:bodyPr/>
                    <a:lstStyle/>
                    <a:p>
                      <a:pPr algn="ctr"/>
                      <a:r>
                        <a:rPr sz="1000">
                          <a:solidFill>
                            <a:srgbClr val="1B3A6B"/>
                          </a:solidFill>
                          <a:latin typeface="Calibri"/>
                        </a:rPr>
                        <a:t>0</a:t>
                      </a:r>
                    </a:p>
                  </a:txBody>
                  <a:tcPr>
                    <a:solidFill>
                      <a:srgbClr val="FFFFFF"/>
                    </a:solidFill>
                  </a:tcPr>
                </a:tc>
              </a:tr>
              <a:tr h="328612">
                <a:tc>
                  <a:txBody>
                    <a:bodyPr/>
                    <a:lstStyle/>
                    <a:p>
                      <a:pPr algn="ctr"/>
                      <a:r>
                        <a:rPr sz="1000">
                          <a:solidFill>
                            <a:srgbClr val="1B3A6B"/>
                          </a:solidFill>
                          <a:latin typeface="Calibri"/>
                        </a:rPr>
                        <a:t>9</a:t>
                      </a:r>
                    </a:p>
                  </a:txBody>
                  <a:tcPr>
                    <a:solidFill>
                      <a:srgbClr val="D6EAF8"/>
                    </a:solidFill>
                  </a:tcPr>
                </a:tc>
                <a:tc>
                  <a:txBody>
                    <a:bodyPr/>
                    <a:lstStyle/>
                    <a:p>
                      <a:pPr algn="ctr"/>
                      <a:r>
                        <a:rPr sz="1000">
                          <a:solidFill>
                            <a:srgbClr val="1B3A6B"/>
                          </a:solidFill>
                          <a:latin typeface="Calibri"/>
                        </a:rPr>
                        <a:t>has_https</a:t>
                      </a:r>
                    </a:p>
                  </a:txBody>
                  <a:tcPr>
                    <a:solidFill>
                      <a:srgbClr val="D6EAF8"/>
                    </a:solidFill>
                  </a:tcPr>
                </a:tc>
                <a:tc>
                  <a:txBody>
                    <a:bodyPr/>
                    <a:lstStyle/>
                    <a:p>
                      <a:pPr algn="ctr"/>
                      <a:r>
                        <a:rPr sz="1000">
                          <a:solidFill>
                            <a:srgbClr val="1B3A6B"/>
                          </a:solidFill>
                          <a:latin typeface="Calibri"/>
                        </a:rPr>
                        <a:t>1 if scheme is HTTPS</a:t>
                      </a:r>
                    </a:p>
                  </a:txBody>
                  <a:tcPr>
                    <a:solidFill>
                      <a:srgbClr val="D6EAF8"/>
                    </a:solidFill>
                  </a:tcPr>
                </a:tc>
                <a:tc>
                  <a:txBody>
                    <a:bodyPr/>
                    <a:lstStyle/>
                    <a:p>
                      <a:pPr algn="ctr"/>
                      <a:r>
                        <a:rPr sz="1000">
                          <a:solidFill>
                            <a:srgbClr val="1B3A6B"/>
                          </a:solidFill>
                          <a:latin typeface="Calibri"/>
                        </a:rPr>
                        <a:t>0</a:t>
                      </a:r>
                    </a:p>
                  </a:txBody>
                  <a:tcPr>
                    <a:solidFill>
                      <a:srgbClr val="D6EAF8"/>
                    </a:solidFill>
                  </a:tcPr>
                </a:tc>
              </a:tr>
              <a:tr h="328612">
                <a:tc>
                  <a:txBody>
                    <a:bodyPr/>
                    <a:lstStyle/>
                    <a:p>
                      <a:pPr algn="ctr"/>
                      <a:r>
                        <a:rPr sz="1000">
                          <a:solidFill>
                            <a:srgbClr val="1B3A6B"/>
                          </a:solidFill>
                          <a:latin typeface="Calibri"/>
                        </a:rPr>
                        <a:t>10</a:t>
                      </a:r>
                    </a:p>
                  </a:txBody>
                  <a:tcPr>
                    <a:solidFill>
                      <a:srgbClr val="FFFFFF"/>
                    </a:solidFill>
                  </a:tcPr>
                </a:tc>
                <a:tc>
                  <a:txBody>
                    <a:bodyPr/>
                    <a:lstStyle/>
                    <a:p>
                      <a:pPr algn="ctr"/>
                      <a:r>
                        <a:rPr sz="1000">
                          <a:solidFill>
                            <a:srgbClr val="1B3A6B"/>
                          </a:solidFill>
                          <a:latin typeface="Calibri"/>
                        </a:rPr>
                        <a:t>num_subdomains</a:t>
                      </a:r>
                    </a:p>
                  </a:txBody>
                  <a:tcPr>
                    <a:solidFill>
                      <a:srgbClr val="FFFFFF"/>
                    </a:solidFill>
                  </a:tcPr>
                </a:tc>
                <a:tc>
                  <a:txBody>
                    <a:bodyPr/>
                    <a:lstStyle/>
                    <a:p>
                      <a:pPr algn="ctr"/>
                      <a:r>
                        <a:rPr sz="1000">
                          <a:solidFill>
                            <a:srgbClr val="1B3A6B"/>
                          </a:solidFill>
                          <a:latin typeface="Calibri"/>
                        </a:rPr>
                        <a:t>Number of subdomain levels</a:t>
                      </a:r>
                    </a:p>
                  </a:txBody>
                  <a:tcPr>
                    <a:solidFill>
                      <a:srgbClr val="FFFFFF"/>
                    </a:solidFill>
                  </a:tcPr>
                </a:tc>
                <a:tc>
                  <a:txBody>
                    <a:bodyPr/>
                    <a:lstStyle/>
                    <a:p>
                      <a:pPr algn="ctr"/>
                      <a:r>
                        <a:rPr sz="1000">
                          <a:solidFill>
                            <a:srgbClr val="1B3A6B"/>
                          </a:solidFill>
                          <a:latin typeface="Calibri"/>
                        </a:rPr>
                        <a:t>2</a:t>
                      </a:r>
                    </a:p>
                  </a:txBody>
                  <a:tcPr>
                    <a:solidFill>
                      <a:srgbClr val="FFFFFF"/>
                    </a:solidFill>
                  </a:tcPr>
                </a:tc>
              </a:tr>
              <a:tr h="328612">
                <a:tc>
                  <a:txBody>
                    <a:bodyPr/>
                    <a:lstStyle/>
                    <a:p>
                      <a:pPr algn="ctr"/>
                      <a:r>
                        <a:rPr sz="1000">
                          <a:solidFill>
                            <a:srgbClr val="1B3A6B"/>
                          </a:solidFill>
                          <a:latin typeface="Calibri"/>
                        </a:rPr>
                        <a:t>11</a:t>
                      </a:r>
                    </a:p>
                  </a:txBody>
                  <a:tcPr>
                    <a:solidFill>
                      <a:srgbClr val="D6EAF8"/>
                    </a:solidFill>
                  </a:tcPr>
                </a:tc>
                <a:tc>
                  <a:txBody>
                    <a:bodyPr/>
                    <a:lstStyle/>
                    <a:p>
                      <a:pPr algn="ctr"/>
                      <a:r>
                        <a:rPr sz="1000">
                          <a:solidFill>
                            <a:srgbClr val="1B3A6B"/>
                          </a:solidFill>
                          <a:latin typeface="Calibri"/>
                        </a:rPr>
                        <a:t>num_path_levels</a:t>
                      </a:r>
                    </a:p>
                  </a:txBody>
                  <a:tcPr>
                    <a:solidFill>
                      <a:srgbClr val="D6EAF8"/>
                    </a:solidFill>
                  </a:tcPr>
                </a:tc>
                <a:tc>
                  <a:txBody>
                    <a:bodyPr/>
                    <a:lstStyle/>
                    <a:p>
                      <a:pPr algn="ctr"/>
                      <a:r>
                        <a:rPr sz="1000">
                          <a:solidFill>
                            <a:srgbClr val="1B3A6B"/>
                          </a:solidFill>
                          <a:latin typeface="Calibri"/>
                        </a:rPr>
                        <a:t>Depth of URL path</a:t>
                      </a:r>
                    </a:p>
                  </a:txBody>
                  <a:tcPr>
                    <a:solidFill>
                      <a:srgbClr val="D6EAF8"/>
                    </a:solidFill>
                  </a:tcPr>
                </a:tc>
                <a:tc>
                  <a:txBody>
                    <a:bodyPr/>
                    <a:lstStyle/>
                    <a:p>
                      <a:pPr algn="ctr"/>
                      <a:r>
                        <a:rPr sz="1000">
                          <a:solidFill>
                            <a:srgbClr val="1B3A6B"/>
                          </a:solidFill>
                          <a:latin typeface="Calibri"/>
                        </a:rPr>
                        <a:t>3</a:t>
                      </a:r>
                    </a:p>
                  </a:txBody>
                  <a:tcPr>
                    <a:solidFill>
                      <a:srgbClr val="D6EAF8"/>
                    </a:solidFill>
                  </a:tcPr>
                </a:tc>
              </a:tr>
              <a:tr h="328612">
                <a:tc>
                  <a:txBody>
                    <a:bodyPr/>
                    <a:lstStyle/>
                    <a:p>
                      <a:pPr algn="ctr"/>
                      <a:r>
                        <a:rPr sz="1000">
                          <a:solidFill>
                            <a:srgbClr val="1B3A6B"/>
                          </a:solidFill>
                          <a:latin typeface="Calibri"/>
                        </a:rPr>
                        <a:t>12</a:t>
                      </a:r>
                    </a:p>
                  </a:txBody>
                  <a:tcPr>
                    <a:solidFill>
                      <a:srgbClr val="FFFFFF"/>
                    </a:solidFill>
                  </a:tcPr>
                </a:tc>
                <a:tc>
                  <a:txBody>
                    <a:bodyPr/>
                    <a:lstStyle/>
                    <a:p>
                      <a:pPr algn="ctr"/>
                      <a:r>
                        <a:rPr sz="1000">
                          <a:solidFill>
                            <a:srgbClr val="1B3A6B"/>
                          </a:solidFill>
                          <a:latin typeface="Calibri"/>
                        </a:rPr>
                        <a:t>has_suspicious_kw</a:t>
                      </a:r>
                    </a:p>
                  </a:txBody>
                  <a:tcPr>
                    <a:solidFill>
                      <a:srgbClr val="FFFFFF"/>
                    </a:solidFill>
                  </a:tcPr>
                </a:tc>
                <a:tc>
                  <a:txBody>
                    <a:bodyPr/>
                    <a:lstStyle/>
                    <a:p>
                      <a:pPr algn="ctr"/>
                      <a:r>
                        <a:rPr sz="1000">
                          <a:solidFill>
                            <a:srgbClr val="1B3A6B"/>
                          </a:solidFill>
                          <a:latin typeface="Calibri"/>
                        </a:rPr>
                        <a:t>1 if URL has login/verify/bank etc.</a:t>
                      </a:r>
                    </a:p>
                  </a:txBody>
                  <a:tcPr>
                    <a:solidFill>
                      <a:srgbClr val="FFFFFF"/>
                    </a:solidFill>
                  </a:tcPr>
                </a:tc>
                <a:tc>
                  <a:txBody>
                    <a:bodyPr/>
                    <a:lstStyle/>
                    <a:p>
                      <a:pPr algn="ctr"/>
                      <a:r>
                        <a:rPr sz="1000">
                          <a:solidFill>
                            <a:srgbClr val="1B3A6B"/>
                          </a:solidFill>
                          <a:latin typeface="Calibri"/>
                        </a:rPr>
                        <a:t>1</a:t>
                      </a:r>
                    </a:p>
                  </a:txBody>
                  <a:tcPr>
                    <a:solidFill>
                      <a:srgbClr val="FFFFFF"/>
                    </a:solidFill>
                  </a:tcPr>
                </a:tc>
              </a:tr>
              <a:tr h="328612">
                <a:tc>
                  <a:txBody>
                    <a:bodyPr/>
                    <a:lstStyle/>
                    <a:p>
                      <a:pPr algn="ctr"/>
                      <a:r>
                        <a:rPr sz="1000">
                          <a:solidFill>
                            <a:srgbClr val="1B3A6B"/>
                          </a:solidFill>
                          <a:latin typeface="Calibri"/>
                        </a:rPr>
                        <a:t>13</a:t>
                      </a:r>
                    </a:p>
                  </a:txBody>
                  <a:tcPr>
                    <a:solidFill>
                      <a:srgbClr val="D6EAF8"/>
                    </a:solidFill>
                  </a:tcPr>
                </a:tc>
                <a:tc>
                  <a:txBody>
                    <a:bodyPr/>
                    <a:lstStyle/>
                    <a:p>
                      <a:pPr algn="ctr"/>
                      <a:r>
                        <a:rPr sz="1000">
                          <a:solidFill>
                            <a:srgbClr val="1B3A6B"/>
                          </a:solidFill>
                          <a:latin typeface="Calibri"/>
                        </a:rPr>
                        <a:t>is_shortened</a:t>
                      </a:r>
                    </a:p>
                  </a:txBody>
                  <a:tcPr>
                    <a:solidFill>
                      <a:srgbClr val="D6EAF8"/>
                    </a:solidFill>
                  </a:tcPr>
                </a:tc>
                <a:tc>
                  <a:txBody>
                    <a:bodyPr/>
                    <a:lstStyle/>
                    <a:p>
                      <a:pPr algn="ctr"/>
                      <a:r>
                        <a:rPr sz="1000">
                          <a:solidFill>
                            <a:srgbClr val="1B3A6B"/>
                          </a:solidFill>
                          <a:latin typeface="Calibri"/>
                        </a:rPr>
                        <a:t>1 if domain is a URL shortener</a:t>
                      </a:r>
                    </a:p>
                  </a:txBody>
                  <a:tcPr>
                    <a:solidFill>
                      <a:srgbClr val="D6EAF8"/>
                    </a:solidFill>
                  </a:tcPr>
                </a:tc>
                <a:tc>
                  <a:txBody>
                    <a:bodyPr/>
                    <a:lstStyle/>
                    <a:p>
                      <a:pPr algn="ctr"/>
                      <a:r>
                        <a:rPr sz="1000">
                          <a:solidFill>
                            <a:srgbClr val="1B3A6B"/>
                          </a:solidFill>
                          <a:latin typeface="Calibri"/>
                        </a:rPr>
                        <a:t>0</a:t>
                      </a:r>
                    </a:p>
                  </a:txBody>
                  <a:tcPr>
                    <a:solidFill>
                      <a:srgbClr val="D6EAF8"/>
                    </a:solidFill>
                  </a:tcPr>
                </a:tc>
              </a:tr>
              <a:tr h="328612">
                <a:tc>
                  <a:txBody>
                    <a:bodyPr/>
                    <a:lstStyle/>
                    <a:p>
                      <a:pPr algn="ctr"/>
                      <a:r>
                        <a:rPr sz="1000">
                          <a:solidFill>
                            <a:srgbClr val="1B3A6B"/>
                          </a:solidFill>
                          <a:latin typeface="Calibri"/>
                        </a:rPr>
                        <a:t>14</a:t>
                      </a:r>
                    </a:p>
                  </a:txBody>
                  <a:tcPr>
                    <a:solidFill>
                      <a:srgbClr val="FFFFFF"/>
                    </a:solidFill>
                  </a:tcPr>
                </a:tc>
                <a:tc>
                  <a:txBody>
                    <a:bodyPr/>
                    <a:lstStyle/>
                    <a:p>
                      <a:pPr algn="ctr"/>
                      <a:r>
                        <a:rPr sz="1000">
                          <a:solidFill>
                            <a:srgbClr val="1B3A6B"/>
                          </a:solidFill>
                          <a:latin typeface="Calibri"/>
                        </a:rPr>
                        <a:t>has_double_slash</a:t>
                      </a:r>
                    </a:p>
                  </a:txBody>
                  <a:tcPr>
                    <a:solidFill>
                      <a:srgbClr val="FFFFFF"/>
                    </a:solidFill>
                  </a:tcPr>
                </a:tc>
                <a:tc>
                  <a:txBody>
                    <a:bodyPr/>
                    <a:lstStyle/>
                    <a:p>
                      <a:pPr algn="ctr"/>
                      <a:r>
                        <a:rPr sz="1000">
                          <a:solidFill>
                            <a:srgbClr val="1B3A6B"/>
                          </a:solidFill>
                          <a:latin typeface="Calibri"/>
                        </a:rPr>
                        <a:t>1 if '//' appears in path</a:t>
                      </a:r>
                    </a:p>
                  </a:txBody>
                  <a:tcPr>
                    <a:solidFill>
                      <a:srgbClr val="FFFFFF"/>
                    </a:solidFill>
                  </a:tcPr>
                </a:tc>
                <a:tc>
                  <a:txBody>
                    <a:bodyPr/>
                    <a:lstStyle/>
                    <a:p>
                      <a:pPr algn="ctr"/>
                      <a:r>
                        <a:rPr sz="1000">
                          <a:solidFill>
                            <a:srgbClr val="1B3A6B"/>
                          </a:solidFill>
                          <a:latin typeface="Calibri"/>
                        </a:rPr>
                        <a:t>1</a:t>
                      </a:r>
                    </a:p>
                  </a:txBody>
                  <a:tcPr>
                    <a:solidFill>
                      <a:srgbClr val="FFFFFF"/>
                    </a:solidFill>
                  </a:tcPr>
                </a:tc>
              </a:tr>
              <a:tr h="328620">
                <a:tc>
                  <a:txBody>
                    <a:bodyPr/>
                    <a:lstStyle/>
                    <a:p>
                      <a:pPr algn="ctr"/>
                      <a:r>
                        <a:rPr sz="1000">
                          <a:solidFill>
                            <a:srgbClr val="1B3A6B"/>
                          </a:solidFill>
                          <a:latin typeface="Calibri"/>
                        </a:rPr>
                        <a:t>15</a:t>
                      </a:r>
                    </a:p>
                  </a:txBody>
                  <a:tcPr>
                    <a:solidFill>
                      <a:srgbClr val="D6EAF8"/>
                    </a:solidFill>
                  </a:tcPr>
                </a:tc>
                <a:tc>
                  <a:txBody>
                    <a:bodyPr/>
                    <a:lstStyle/>
                    <a:p>
                      <a:pPr algn="ctr"/>
                      <a:r>
                        <a:rPr sz="1000">
                          <a:solidFill>
                            <a:srgbClr val="1B3A6B"/>
                          </a:solidFill>
                          <a:latin typeface="Calibri"/>
                        </a:rPr>
                        <a:t>has_port</a:t>
                      </a:r>
                    </a:p>
                  </a:txBody>
                  <a:tcPr>
                    <a:solidFill>
                      <a:srgbClr val="D6EAF8"/>
                    </a:solidFill>
                  </a:tcPr>
                </a:tc>
                <a:tc>
                  <a:txBody>
                    <a:bodyPr/>
                    <a:lstStyle/>
                    <a:p>
                      <a:pPr algn="ctr"/>
                      <a:r>
                        <a:rPr sz="1000">
                          <a:solidFill>
                            <a:srgbClr val="1B3A6B"/>
                          </a:solidFill>
                          <a:latin typeface="Calibri"/>
                        </a:rPr>
                        <a:t>1 if explicit port in URL</a:t>
                      </a:r>
                    </a:p>
                  </a:txBody>
                  <a:tcPr>
                    <a:solidFill>
                      <a:srgbClr val="D6EAF8"/>
                    </a:solidFill>
                  </a:tcPr>
                </a:tc>
                <a:tc>
                  <a:txBody>
                    <a:bodyPr/>
                    <a:lstStyle/>
                    <a:p>
                      <a:pPr algn="ctr"/>
                      <a:r>
                        <a:rPr sz="1000">
                          <a:solidFill>
                            <a:srgbClr val="1B3A6B"/>
                          </a:solidFill>
                          <a:latin typeface="Calibri"/>
                        </a:rPr>
                        <a:t>0</a:t>
                      </a:r>
                    </a:p>
                  </a:txBody>
                  <a:tcPr>
                    <a:solidFill>
                      <a:srgbClr val="D6EA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Feature Extraction — Code &amp; Sample Output</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8 / 17</a:t>
            </a:r>
          </a:p>
        </p:txBody>
      </p:sp>
      <p:sp>
        <p:nvSpPr>
          <p:cNvPr id="6" name="Rectangle 5"/>
          <p:cNvSpPr/>
          <p:nvPr/>
        </p:nvSpPr>
        <p:spPr>
          <a:xfrm>
            <a:off x="365760" y="1371600"/>
            <a:ext cx="11430000" cy="36576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11247120" cy="3566160"/>
          </a:xfrm>
          <a:prstGeom prst="rect">
            <a:avLst/>
          </a:prstGeom>
          <a:noFill/>
        </p:spPr>
        <p:txBody>
          <a:bodyPr wrap="square">
            <a:spAutoFit/>
          </a:bodyPr>
          <a:lstStyle/>
          <a:p>
            <a:pPr algn="l"/>
            <a:r>
              <a:rPr sz="1200" b="0" i="0">
                <a:solidFill>
                  <a:srgbClr val="CEF59D"/>
                </a:solidFill>
                <a:latin typeface="Courier New"/>
              </a:rPr>
              <a:t>from src.features import extract_features
url = 'http://login.verify-bank.com/update/account?id=123'
features = extract_features(url, as_dict=True)
# Sample output:
# url_length        : 53
# hostname_length   : 22
# num_dots          : 3
# has_https         : 0     ← HTTP only!
# has_suspicious_kw : 1     ← 'login', 'verify', 'bank', 'update'
# num_subdomains    : 1
# has_ip            : 0
# ... (all 15 features)</a:t>
            </a:r>
          </a:p>
        </p:txBody>
      </p:sp>
      <p:sp>
        <p:nvSpPr>
          <p:cNvPr id="8" name="TextBox 7"/>
          <p:cNvSpPr txBox="1"/>
          <p:nvPr/>
        </p:nvSpPr>
        <p:spPr>
          <a:xfrm>
            <a:off x="365760" y="5166360"/>
            <a:ext cx="11430000" cy="548640"/>
          </a:xfrm>
          <a:prstGeom prst="rect">
            <a:avLst/>
          </a:prstGeom>
          <a:noFill/>
        </p:spPr>
        <p:txBody>
          <a:bodyPr wrap="square">
            <a:spAutoFit/>
          </a:bodyPr>
          <a:lstStyle/>
          <a:p>
            <a:pPr algn="l"/>
            <a:r>
              <a:rPr sz="1200" b="0" i="1">
                <a:solidFill>
                  <a:srgbClr val="F39C12"/>
                </a:solidFill>
                <a:latin typeface="Calibri"/>
              </a:rPr>
              <a:t>[INSERT SCREENSHOT: Terminal/Notebook showing actual extract_features() output]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Model Training</a:t>
            </a:r>
          </a:p>
        </p:txBody>
      </p:sp>
      <p:sp>
        <p:nvSpPr>
          <p:cNvPr id="4" name="TextBox 3"/>
          <p:cNvSpPr txBox="1"/>
          <p:nvPr/>
        </p:nvSpPr>
        <p:spPr>
          <a:xfrm>
            <a:off x="274320" y="777240"/>
            <a:ext cx="10972800" cy="365760"/>
          </a:xfrm>
          <a:prstGeom prst="rect">
            <a:avLst/>
          </a:prstGeom>
          <a:noFill/>
        </p:spPr>
        <p:txBody>
          <a:bodyPr wrap="square">
            <a:spAutoFit/>
          </a:bodyPr>
          <a:lstStyle/>
          <a:p>
            <a:pPr algn="l"/>
            <a:r>
              <a:rPr sz="1400" b="0" i="0">
                <a:solidFill>
                  <a:srgbClr val="00B4D8"/>
                </a:solidFill>
                <a:latin typeface="Calibri"/>
              </a:rPr>
              <a:t>Random Forest &amp; Logistic Regression</a:t>
            </a:r>
          </a:p>
        </p:txBody>
      </p:sp>
      <p:sp>
        <p:nvSpPr>
          <p:cNvPr id="5" name="Rectangle 4"/>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9 / 17</a:t>
            </a:r>
          </a:p>
        </p:txBody>
      </p:sp>
      <p:graphicFrame>
        <p:nvGraphicFramePr>
          <p:cNvPr id="7" name="Table 6"/>
          <p:cNvGraphicFramePr>
            <a:graphicFrameLocks noGrp="1"/>
          </p:cNvGraphicFramePr>
          <p:nvPr/>
        </p:nvGraphicFramePr>
        <p:xfrm>
          <a:off x="365760" y="1371600"/>
          <a:ext cx="11430000" cy="5166360"/>
        </p:xfrm>
        <a:graphic>
          <a:graphicData uri="http://schemas.openxmlformats.org/drawingml/2006/table">
            <a:tbl>
              <a:tblPr firstRow="1" bandRow="1">
                <a:tableStyleId>{5C22544A-7EE6-4342-B048-85BDC9FD1C3A}</a:tableStyleId>
              </a:tblPr>
              <a:tblGrid>
                <a:gridCol w="3810000"/>
                <a:gridCol w="3810000"/>
                <a:gridCol w="3810000"/>
              </a:tblGrid>
              <a:tr h="516636">
                <a:tc>
                  <a:txBody>
                    <a:bodyPr/>
                    <a:lstStyle/>
                    <a:p>
                      <a:pPr algn="ctr"/>
                      <a:r>
                        <a:rPr b="1" sz="1100">
                          <a:solidFill>
                            <a:srgbClr val="FFFFFF"/>
                          </a:solidFill>
                          <a:latin typeface="Calibri"/>
                        </a:rPr>
                        <a:t>Parameter</a:t>
                      </a:r>
                    </a:p>
                  </a:txBody>
                  <a:tcPr>
                    <a:solidFill>
                      <a:srgbClr val="1B3A6B"/>
                    </a:solidFill>
                  </a:tcPr>
                </a:tc>
                <a:tc>
                  <a:txBody>
                    <a:bodyPr/>
                    <a:lstStyle/>
                    <a:p>
                      <a:pPr algn="ctr"/>
                      <a:r>
                        <a:rPr b="1" sz="1100">
                          <a:solidFill>
                            <a:srgbClr val="FFFFFF"/>
                          </a:solidFill>
                          <a:latin typeface="Calibri"/>
                        </a:rPr>
                        <a:t>Random Forest</a:t>
                      </a:r>
                    </a:p>
                  </a:txBody>
                  <a:tcPr>
                    <a:solidFill>
                      <a:srgbClr val="1B3A6B"/>
                    </a:solidFill>
                  </a:tcPr>
                </a:tc>
                <a:tc>
                  <a:txBody>
                    <a:bodyPr/>
                    <a:lstStyle/>
                    <a:p>
                      <a:pPr algn="ctr"/>
                      <a:r>
                        <a:rPr b="1" sz="1100">
                          <a:solidFill>
                            <a:srgbClr val="FFFFFF"/>
                          </a:solidFill>
                          <a:latin typeface="Calibri"/>
                        </a:rPr>
                        <a:t>Logistic Regression</a:t>
                      </a:r>
                    </a:p>
                  </a:txBody>
                  <a:tcPr>
                    <a:solidFill>
                      <a:srgbClr val="1B3A6B"/>
                    </a:solidFill>
                  </a:tcPr>
                </a:tc>
              </a:tr>
              <a:tr h="516636">
                <a:tc>
                  <a:txBody>
                    <a:bodyPr/>
                    <a:lstStyle/>
                    <a:p>
                      <a:pPr algn="ctr"/>
                      <a:r>
                        <a:rPr sz="1100">
                          <a:solidFill>
                            <a:srgbClr val="1B3A6B"/>
                          </a:solidFill>
                          <a:latin typeface="Calibri"/>
                        </a:rPr>
                        <a:t>Algorithm</a:t>
                      </a:r>
                    </a:p>
                  </a:txBody>
                  <a:tcPr>
                    <a:solidFill>
                      <a:srgbClr val="D6EAF8"/>
                    </a:solidFill>
                  </a:tcPr>
                </a:tc>
                <a:tc>
                  <a:txBody>
                    <a:bodyPr/>
                    <a:lstStyle/>
                    <a:p>
                      <a:pPr algn="ctr"/>
                      <a:r>
                        <a:rPr sz="1100">
                          <a:solidFill>
                            <a:srgbClr val="1B3A6B"/>
                          </a:solidFill>
                          <a:latin typeface="Calibri"/>
                        </a:rPr>
                        <a:t>Ensemble of Decision Trees</a:t>
                      </a:r>
                    </a:p>
                  </a:txBody>
                  <a:tcPr>
                    <a:solidFill>
                      <a:srgbClr val="D6EAF8"/>
                    </a:solidFill>
                  </a:tcPr>
                </a:tc>
                <a:tc>
                  <a:txBody>
                    <a:bodyPr/>
                    <a:lstStyle/>
                    <a:p>
                      <a:pPr algn="ctr"/>
                      <a:r>
                        <a:rPr sz="1100">
                          <a:solidFill>
                            <a:srgbClr val="1B3A6B"/>
                          </a:solidFill>
                          <a:latin typeface="Calibri"/>
                        </a:rPr>
                        <a:t>Linear Discriminant Boundary</a:t>
                      </a:r>
                    </a:p>
                  </a:txBody>
                  <a:tcPr>
                    <a:solidFill>
                      <a:srgbClr val="D6EAF8"/>
                    </a:solidFill>
                  </a:tcPr>
                </a:tc>
              </a:tr>
              <a:tr h="516636">
                <a:tc>
                  <a:txBody>
                    <a:bodyPr/>
                    <a:lstStyle/>
                    <a:p>
                      <a:pPr algn="ctr"/>
                      <a:r>
                        <a:rPr sz="1100">
                          <a:solidFill>
                            <a:srgbClr val="1B3A6B"/>
                          </a:solidFill>
                          <a:latin typeface="Calibri"/>
                        </a:rPr>
                        <a:t>Best n_estimators</a:t>
                      </a:r>
                    </a:p>
                  </a:txBody>
                  <a:tcPr>
                    <a:solidFill>
                      <a:srgbClr val="FFFFFF"/>
                    </a:solidFill>
                  </a:tcPr>
                </a:tc>
                <a:tc>
                  <a:txBody>
                    <a:bodyPr/>
                    <a:lstStyle/>
                    <a:p>
                      <a:pPr algn="ctr"/>
                      <a:r>
                        <a:rPr sz="1100">
                          <a:solidFill>
                            <a:srgbClr val="1B3A6B"/>
                          </a:solidFill>
                          <a:latin typeface="Calibri"/>
                        </a:rPr>
                        <a:t>150</a:t>
                      </a:r>
                    </a:p>
                  </a:txBody>
                  <a:tcPr>
                    <a:solidFill>
                      <a:srgbClr val="FFFFFF"/>
                    </a:solidFill>
                  </a:tcPr>
                </a:tc>
                <a:tc>
                  <a:txBody>
                    <a:bodyPr/>
                    <a:lstStyle/>
                    <a:p>
                      <a:pPr algn="ctr"/>
                      <a:r>
                        <a:rPr sz="1100">
                          <a:solidFill>
                            <a:srgbClr val="1B3A6B"/>
                          </a:solidFill>
                          <a:latin typeface="Calibri"/>
                        </a:rPr>
                        <a:t>N/A</a:t>
                      </a:r>
                    </a:p>
                  </a:txBody>
                  <a:tcPr>
                    <a:solidFill>
                      <a:srgbClr val="FFFFFF"/>
                    </a:solidFill>
                  </a:tcPr>
                </a:tc>
              </a:tr>
              <a:tr h="516636">
                <a:tc>
                  <a:txBody>
                    <a:bodyPr/>
                    <a:lstStyle/>
                    <a:p>
                      <a:pPr algn="ctr"/>
                      <a:r>
                        <a:rPr sz="1100">
                          <a:solidFill>
                            <a:srgbClr val="1B3A6B"/>
                          </a:solidFill>
                          <a:latin typeface="Calibri"/>
                        </a:rPr>
                        <a:t>Best max_depth</a:t>
                      </a:r>
                    </a:p>
                  </a:txBody>
                  <a:tcPr>
                    <a:solidFill>
                      <a:srgbClr val="D6EAF8"/>
                    </a:solidFill>
                  </a:tcPr>
                </a:tc>
                <a:tc>
                  <a:txBody>
                    <a:bodyPr/>
                    <a:lstStyle/>
                    <a:p>
                      <a:pPr algn="ctr"/>
                      <a:r>
                        <a:rPr sz="1100">
                          <a:solidFill>
                            <a:srgbClr val="1B3A6B"/>
                          </a:solidFill>
                          <a:latin typeface="Calibri"/>
                        </a:rPr>
                        <a:t>25</a:t>
                      </a:r>
                    </a:p>
                  </a:txBody>
                  <a:tcPr>
                    <a:solidFill>
                      <a:srgbClr val="D6EAF8"/>
                    </a:solidFill>
                  </a:tcPr>
                </a:tc>
                <a:tc>
                  <a:txBody>
                    <a:bodyPr/>
                    <a:lstStyle/>
                    <a:p>
                      <a:pPr algn="ctr"/>
                      <a:r>
                        <a:rPr sz="1100">
                          <a:solidFill>
                            <a:srgbClr val="1B3A6B"/>
                          </a:solidFill>
                          <a:latin typeface="Calibri"/>
                        </a:rPr>
                        <a:t>N/A</a:t>
                      </a:r>
                    </a:p>
                  </a:txBody>
                  <a:tcPr>
                    <a:solidFill>
                      <a:srgbClr val="D6EAF8"/>
                    </a:solidFill>
                  </a:tcPr>
                </a:tc>
              </a:tr>
              <a:tr h="516636">
                <a:tc>
                  <a:txBody>
                    <a:bodyPr/>
                    <a:lstStyle/>
                    <a:p>
                      <a:pPr algn="ctr"/>
                      <a:r>
                        <a:rPr sz="1100">
                          <a:solidFill>
                            <a:srgbClr val="1B3A6B"/>
                          </a:solidFill>
                          <a:latin typeface="Calibri"/>
                        </a:rPr>
                        <a:t>Best min_samples_split</a:t>
                      </a:r>
                    </a:p>
                  </a:txBody>
                  <a:tcPr>
                    <a:solidFill>
                      <a:srgbClr val="FFFFFF"/>
                    </a:solidFill>
                  </a:tcPr>
                </a:tc>
                <a:tc>
                  <a:txBody>
                    <a:bodyPr/>
                    <a:lstStyle/>
                    <a:p>
                      <a:pPr algn="ctr"/>
                      <a:r>
                        <a:rPr sz="1100">
                          <a:solidFill>
                            <a:srgbClr val="1B3A6B"/>
                          </a:solidFill>
                          <a:latin typeface="Calibri"/>
                        </a:rPr>
                        <a:t>5</a:t>
                      </a:r>
                    </a:p>
                  </a:txBody>
                  <a:tcPr>
                    <a:solidFill>
                      <a:srgbClr val="FFFFFF"/>
                    </a:solidFill>
                  </a:tcPr>
                </a:tc>
                <a:tc>
                  <a:txBody>
                    <a:bodyPr/>
                    <a:lstStyle/>
                    <a:p>
                      <a:pPr algn="ctr"/>
                      <a:r>
                        <a:rPr sz="1100">
                          <a:solidFill>
                            <a:srgbClr val="1B3A6B"/>
                          </a:solidFill>
                          <a:latin typeface="Calibri"/>
                        </a:rPr>
                        <a:t>N/A</a:t>
                      </a:r>
                    </a:p>
                  </a:txBody>
                  <a:tcPr>
                    <a:solidFill>
                      <a:srgbClr val="FFFFFF"/>
                    </a:solidFill>
                  </a:tcPr>
                </a:tc>
              </a:tr>
              <a:tr h="516636">
                <a:tc>
                  <a:txBody>
                    <a:bodyPr/>
                    <a:lstStyle/>
                    <a:p>
                      <a:pPr algn="ctr"/>
                      <a:r>
                        <a:rPr sz="1100">
                          <a:solidFill>
                            <a:srgbClr val="1B3A6B"/>
                          </a:solidFill>
                          <a:latin typeface="Calibri"/>
                        </a:rPr>
                        <a:t>Best C (regularisation)</a:t>
                      </a:r>
                    </a:p>
                  </a:txBody>
                  <a:tcPr>
                    <a:solidFill>
                      <a:srgbClr val="D6EAF8"/>
                    </a:solidFill>
                  </a:tcPr>
                </a:tc>
                <a:tc>
                  <a:txBody>
                    <a:bodyPr/>
                    <a:lstStyle/>
                    <a:p>
                      <a:pPr algn="ctr"/>
                      <a:r>
                        <a:rPr sz="1100">
                          <a:solidFill>
                            <a:srgbClr val="1B3A6B"/>
                          </a:solidFill>
                          <a:latin typeface="Calibri"/>
                        </a:rPr>
                        <a:t>N/A</a:t>
                      </a:r>
                    </a:p>
                  </a:txBody>
                  <a:tcPr>
                    <a:solidFill>
                      <a:srgbClr val="D6EAF8"/>
                    </a:solidFill>
                  </a:tcPr>
                </a:tc>
                <a:tc>
                  <a:txBody>
                    <a:bodyPr/>
                    <a:lstStyle/>
                    <a:p>
                      <a:pPr algn="ctr"/>
                      <a:r>
                        <a:rPr sz="1100">
                          <a:solidFill>
                            <a:srgbClr val="1B3A6B"/>
                          </a:solidFill>
                          <a:latin typeface="Calibri"/>
                        </a:rPr>
                        <a:t>0.1  (L2 penalty)</a:t>
                      </a:r>
                    </a:p>
                  </a:txBody>
                  <a:tcPr>
                    <a:solidFill>
                      <a:srgbClr val="D6EAF8"/>
                    </a:solidFill>
                  </a:tcPr>
                </a:tc>
              </a:tr>
              <a:tr h="516636">
                <a:tc>
                  <a:txBody>
                    <a:bodyPr/>
                    <a:lstStyle/>
                    <a:p>
                      <a:pPr algn="ctr"/>
                      <a:r>
                        <a:rPr sz="1100">
                          <a:solidFill>
                            <a:srgbClr val="1B3A6B"/>
                          </a:solidFill>
                          <a:latin typeface="Calibri"/>
                        </a:rPr>
                        <a:t>Best solver</a:t>
                      </a:r>
                    </a:p>
                  </a:txBody>
                  <a:tcPr>
                    <a:solidFill>
                      <a:srgbClr val="FFFFFF"/>
                    </a:solidFill>
                  </a:tcPr>
                </a:tc>
                <a:tc>
                  <a:txBody>
                    <a:bodyPr/>
                    <a:lstStyle/>
                    <a:p>
                      <a:pPr algn="ctr"/>
                      <a:r>
                        <a:rPr sz="1100">
                          <a:solidFill>
                            <a:srgbClr val="1B3A6B"/>
                          </a:solidFill>
                          <a:latin typeface="Calibri"/>
                        </a:rPr>
                        <a:t>N/A</a:t>
                      </a:r>
                    </a:p>
                  </a:txBody>
                  <a:tcPr>
                    <a:solidFill>
                      <a:srgbClr val="FFFFFF"/>
                    </a:solidFill>
                  </a:tcPr>
                </a:tc>
                <a:tc>
                  <a:txBody>
                    <a:bodyPr/>
                    <a:lstStyle/>
                    <a:p>
                      <a:pPr algn="ctr"/>
                      <a:r>
                        <a:rPr sz="1100">
                          <a:solidFill>
                            <a:srgbClr val="1B3A6B"/>
                          </a:solidFill>
                          <a:latin typeface="Calibri"/>
                        </a:rPr>
                        <a:t>lbfgs</a:t>
                      </a:r>
                    </a:p>
                  </a:txBody>
                  <a:tcPr>
                    <a:solidFill>
                      <a:srgbClr val="FFFFFF"/>
                    </a:solidFill>
                  </a:tcPr>
                </a:tc>
              </a:tr>
              <a:tr h="516636">
                <a:tc>
                  <a:txBody>
                    <a:bodyPr/>
                    <a:lstStyle/>
                    <a:p>
                      <a:pPr algn="ctr"/>
                      <a:r>
                        <a:rPr sz="1100">
                          <a:solidFill>
                            <a:srgbClr val="1B3A6B"/>
                          </a:solidFill>
                          <a:latin typeface="Calibri"/>
                        </a:rPr>
                        <a:t>Feature scaling</a:t>
                      </a:r>
                    </a:p>
                  </a:txBody>
                  <a:tcPr>
                    <a:solidFill>
                      <a:srgbClr val="D6EAF8"/>
                    </a:solidFill>
                  </a:tcPr>
                </a:tc>
                <a:tc>
                  <a:txBody>
                    <a:bodyPr/>
                    <a:lstStyle/>
                    <a:p>
                      <a:pPr algn="ctr"/>
                      <a:r>
                        <a:rPr sz="1100">
                          <a:solidFill>
                            <a:srgbClr val="1B3A6B"/>
                          </a:solidFill>
                          <a:latin typeface="Calibri"/>
                        </a:rPr>
                        <a:t>Not required</a:t>
                      </a:r>
                    </a:p>
                  </a:txBody>
                  <a:tcPr>
                    <a:solidFill>
                      <a:srgbClr val="D6EAF8"/>
                    </a:solidFill>
                  </a:tcPr>
                </a:tc>
                <a:tc>
                  <a:txBody>
                    <a:bodyPr/>
                    <a:lstStyle/>
                    <a:p>
                      <a:pPr algn="ctr"/>
                      <a:r>
                        <a:rPr sz="1100">
                          <a:solidFill>
                            <a:srgbClr val="1B3A6B"/>
                          </a:solidFill>
                          <a:latin typeface="Calibri"/>
                        </a:rPr>
                        <a:t>StandardScaler applied</a:t>
                      </a:r>
                    </a:p>
                  </a:txBody>
                  <a:tcPr>
                    <a:solidFill>
                      <a:srgbClr val="D6EAF8"/>
                    </a:solidFill>
                  </a:tcPr>
                </a:tc>
              </a:tr>
              <a:tr h="516636">
                <a:tc>
                  <a:txBody>
                    <a:bodyPr/>
                    <a:lstStyle/>
                    <a:p>
                      <a:pPr algn="ctr"/>
                      <a:r>
                        <a:rPr sz="1100">
                          <a:solidFill>
                            <a:srgbClr val="1B3A6B"/>
                          </a:solidFill>
                          <a:latin typeface="Calibri"/>
                        </a:rPr>
                        <a:t>Search method</a:t>
                      </a:r>
                    </a:p>
                  </a:txBody>
                  <a:tcPr>
                    <a:solidFill>
                      <a:srgbClr val="FFFFFF"/>
                    </a:solidFill>
                  </a:tcPr>
                </a:tc>
                <a:tc>
                  <a:txBody>
                    <a:bodyPr/>
                    <a:lstStyle/>
                    <a:p>
                      <a:pPr algn="ctr"/>
                      <a:r>
                        <a:rPr sz="1100">
                          <a:solidFill>
                            <a:srgbClr val="1B3A6B"/>
                          </a:solidFill>
                          <a:latin typeface="Calibri"/>
                        </a:rPr>
                        <a:t>GridSearchCV (5-fold)</a:t>
                      </a:r>
                    </a:p>
                  </a:txBody>
                  <a:tcPr>
                    <a:solidFill>
                      <a:srgbClr val="FFFFFF"/>
                    </a:solidFill>
                  </a:tcPr>
                </a:tc>
                <a:tc>
                  <a:txBody>
                    <a:bodyPr/>
                    <a:lstStyle/>
                    <a:p>
                      <a:pPr algn="ctr"/>
                      <a:r>
                        <a:rPr sz="1100">
                          <a:solidFill>
                            <a:srgbClr val="1B3A6B"/>
                          </a:solidFill>
                          <a:latin typeface="Calibri"/>
                        </a:rPr>
                        <a:t>GridSearchCV (5-fold)</a:t>
                      </a:r>
                    </a:p>
                  </a:txBody>
                  <a:tcPr>
                    <a:solidFill>
                      <a:srgbClr val="FFFFFF"/>
                    </a:solidFill>
                  </a:tcPr>
                </a:tc>
              </a:tr>
              <a:tr h="516636">
                <a:tc>
                  <a:txBody>
                    <a:bodyPr/>
                    <a:lstStyle/>
                    <a:p>
                      <a:pPr algn="ctr"/>
                      <a:r>
                        <a:rPr sz="1100">
                          <a:solidFill>
                            <a:srgbClr val="1B3A6B"/>
                          </a:solidFill>
                          <a:latin typeface="Calibri"/>
                        </a:rPr>
                        <a:t>Training samples</a:t>
                      </a:r>
                    </a:p>
                  </a:txBody>
                  <a:tcPr>
                    <a:solidFill>
                      <a:srgbClr val="D6EAF8"/>
                    </a:solidFill>
                  </a:tcPr>
                </a:tc>
                <a:tc>
                  <a:txBody>
                    <a:bodyPr/>
                    <a:lstStyle/>
                    <a:p>
                      <a:pPr algn="ctr"/>
                      <a:r>
                        <a:rPr sz="1100">
                          <a:solidFill>
                            <a:srgbClr val="1B3A6B"/>
                          </a:solidFill>
                          <a:latin typeface="Calibri"/>
                        </a:rPr>
                        <a:t>8,000</a:t>
                      </a:r>
                    </a:p>
                  </a:txBody>
                  <a:tcPr>
                    <a:solidFill>
                      <a:srgbClr val="D6EAF8"/>
                    </a:solidFill>
                  </a:tcPr>
                </a:tc>
                <a:tc>
                  <a:txBody>
                    <a:bodyPr/>
                    <a:lstStyle/>
                    <a:p>
                      <a:pPr algn="ctr"/>
                      <a:r>
                        <a:rPr sz="1100">
                          <a:solidFill>
                            <a:srgbClr val="1B3A6B"/>
                          </a:solidFill>
                          <a:latin typeface="Calibri"/>
                        </a:rPr>
                        <a:t>8,000</a:t>
                      </a:r>
                    </a:p>
                  </a:txBody>
                  <a:tcPr>
                    <a:solidFill>
                      <a:srgbClr val="D6EA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Hybrid Voting Classifier</a:t>
            </a:r>
          </a:p>
        </p:txBody>
      </p:sp>
      <p:sp>
        <p:nvSpPr>
          <p:cNvPr id="4" name="TextBox 3"/>
          <p:cNvSpPr txBox="1"/>
          <p:nvPr/>
        </p:nvSpPr>
        <p:spPr>
          <a:xfrm>
            <a:off x="274320" y="777240"/>
            <a:ext cx="10972800" cy="365760"/>
          </a:xfrm>
          <a:prstGeom prst="rect">
            <a:avLst/>
          </a:prstGeom>
          <a:noFill/>
        </p:spPr>
        <p:txBody>
          <a:bodyPr wrap="square">
            <a:spAutoFit/>
          </a:bodyPr>
          <a:lstStyle/>
          <a:p>
            <a:pPr algn="l"/>
            <a:r>
              <a:rPr sz="1400" b="0" i="0">
                <a:solidFill>
                  <a:srgbClr val="00B4D8"/>
                </a:solidFill>
                <a:latin typeface="Calibri"/>
              </a:rPr>
              <a:t>Soft vs Hard Voting</a:t>
            </a:r>
          </a:p>
        </p:txBody>
      </p:sp>
      <p:sp>
        <p:nvSpPr>
          <p:cNvPr id="5" name="Rectangle 4"/>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10 / 17</a:t>
            </a:r>
          </a:p>
        </p:txBody>
      </p:sp>
      <p:sp>
        <p:nvSpPr>
          <p:cNvPr id="7" name="TextBox 6"/>
          <p:cNvSpPr txBox="1"/>
          <p:nvPr/>
        </p:nvSpPr>
        <p:spPr>
          <a:xfrm>
            <a:off x="365760" y="1325880"/>
            <a:ext cx="11430000" cy="3200400"/>
          </a:xfrm>
          <a:prstGeom prst="rect">
            <a:avLst/>
          </a:prstGeom>
          <a:noFill/>
        </p:spPr>
        <p:txBody>
          <a:bodyPr wrap="square">
            <a:spAutoFit/>
          </a:bodyPr>
          <a:lstStyle/>
          <a:p>
            <a:pPr>
              <a:spcBef>
                <a:spcPts val="600"/>
              </a:spcBef>
            </a:pPr>
            <a:r>
              <a:rPr sz="1400">
                <a:solidFill>
                  <a:srgbClr val="1B3A6B"/>
                </a:solidFill>
                <a:latin typeface="Calibri"/>
              </a:rPr>
              <a:t>• Hard Voting: Each classifier predicts a label; majority vote wins. Fast but ignores confidence.</a:t>
            </a:r>
          </a:p>
          <a:p>
            <a:pPr>
              <a:spcBef>
                <a:spcPts val="600"/>
              </a:spcBef>
            </a:pPr>
            <a:r>
              <a:rPr sz="1400">
                <a:solidFill>
                  <a:srgbClr val="1B3A6B"/>
                </a:solidFill>
                <a:latin typeface="Calibri"/>
              </a:rPr>
              <a:t>• Soft Voting: Average the predicted probabilities; pick label with higher mean probability.</a:t>
            </a:r>
          </a:p>
          <a:p>
            <a:pPr>
              <a:spcBef>
                <a:spcPts val="600"/>
              </a:spcBef>
            </a:pPr>
            <a:r>
              <a:rPr sz="1400">
                <a:solidFill>
                  <a:srgbClr val="1B3A6B"/>
                </a:solidFill>
                <a:latin typeface="Calibri"/>
              </a:rPr>
              <a:t>• Why Soft? — Preserves uncertainty information. Better when classifiers are well-calibrated.</a:t>
            </a:r>
          </a:p>
          <a:p>
            <a:pPr>
              <a:spcBef>
                <a:spcPts val="600"/>
              </a:spcBef>
            </a:pPr>
            <a:r>
              <a:rPr sz="1400">
                <a:solidFill>
                  <a:srgbClr val="1B3A6B"/>
                </a:solidFill>
                <a:latin typeface="Calibri"/>
              </a:rPr>
              <a:t>• Our hybrid: VotingClassifier([('rf', rf), ('lr', lr_pipeline)], voting='soft', weights=[1,1])</a:t>
            </a:r>
          </a:p>
          <a:p>
            <a:pPr>
              <a:spcBef>
                <a:spcPts val="600"/>
              </a:spcBef>
            </a:pPr>
            <a:r>
              <a:rPr sz="1400">
                <a:solidFill>
                  <a:srgbClr val="1B3A6B"/>
                </a:solidFill>
                <a:latin typeface="Calibri"/>
              </a:rPr>
              <a:t>• Equal weights chosen after comparing [2,1] and [1,1] on validation set (soft [1,1] wins).</a:t>
            </a:r>
          </a:p>
        </p:txBody>
      </p:sp>
      <p:sp>
        <p:nvSpPr>
          <p:cNvPr id="8" name="Rectangle 7"/>
          <p:cNvSpPr/>
          <p:nvPr/>
        </p:nvSpPr>
        <p:spPr>
          <a:xfrm>
            <a:off x="365760" y="4663440"/>
            <a:ext cx="11430000" cy="1737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709160"/>
            <a:ext cx="11247120" cy="1645920"/>
          </a:xfrm>
          <a:prstGeom prst="rect">
            <a:avLst/>
          </a:prstGeom>
          <a:noFill/>
        </p:spPr>
        <p:txBody>
          <a:bodyPr wrap="square">
            <a:spAutoFit/>
          </a:bodyPr>
          <a:lstStyle/>
          <a:p>
            <a:pPr algn="l"/>
            <a:r>
              <a:rPr sz="1200" b="0" i="0">
                <a:solidFill>
                  <a:srgbClr val="CEF59D"/>
                </a:solidFill>
                <a:latin typeface="Courier New"/>
              </a:rPr>
              <a:t>from sklearn.ensemble import VotingClassifier
hybrid = VotingClassifier(
    estimators=[('rf', best_rf), ('lr', lr_pipeline)],
    voting='soft',
    weights=[1, 1]
)
hybrid.fit(X_train, y_train)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Evaluation Results</a:t>
            </a:r>
          </a:p>
        </p:txBody>
      </p:sp>
      <p:sp>
        <p:nvSpPr>
          <p:cNvPr id="4" name="TextBox 3"/>
          <p:cNvSpPr txBox="1"/>
          <p:nvPr/>
        </p:nvSpPr>
        <p:spPr>
          <a:xfrm>
            <a:off x="274320" y="777240"/>
            <a:ext cx="10972800" cy="365760"/>
          </a:xfrm>
          <a:prstGeom prst="rect">
            <a:avLst/>
          </a:prstGeom>
          <a:noFill/>
        </p:spPr>
        <p:txBody>
          <a:bodyPr wrap="square">
            <a:spAutoFit/>
          </a:bodyPr>
          <a:lstStyle/>
          <a:p>
            <a:pPr algn="l"/>
            <a:r>
              <a:rPr sz="1400" b="0" i="0">
                <a:solidFill>
                  <a:srgbClr val="00B4D8"/>
                </a:solidFill>
                <a:latin typeface="Calibri"/>
              </a:rPr>
              <a:t>Model Comparison on Test Set (2,000 URLs)</a:t>
            </a:r>
          </a:p>
        </p:txBody>
      </p:sp>
      <p:sp>
        <p:nvSpPr>
          <p:cNvPr id="5" name="Rectangle 4"/>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11 / 17</a:t>
            </a:r>
          </a:p>
        </p:txBody>
      </p:sp>
      <p:graphicFrame>
        <p:nvGraphicFramePr>
          <p:cNvPr id="7" name="Table 6"/>
          <p:cNvGraphicFramePr>
            <a:graphicFrameLocks noGrp="1"/>
          </p:cNvGraphicFramePr>
          <p:nvPr/>
        </p:nvGraphicFramePr>
        <p:xfrm>
          <a:off x="365760" y="1371600"/>
          <a:ext cx="11430000" cy="4754880"/>
        </p:xfrm>
        <a:graphic>
          <a:graphicData uri="http://schemas.openxmlformats.org/drawingml/2006/table">
            <a:tbl>
              <a:tblPr firstRow="1" bandRow="1">
                <a:tableStyleId>{5C22544A-7EE6-4342-B048-85BDC9FD1C3A}</a:tableStyleId>
              </a:tblPr>
              <a:tblGrid>
                <a:gridCol w="2857500"/>
                <a:gridCol w="2857500"/>
                <a:gridCol w="2857500"/>
                <a:gridCol w="2857500"/>
              </a:tblGrid>
              <a:tr h="594360">
                <a:tc>
                  <a:txBody>
                    <a:bodyPr/>
                    <a:lstStyle/>
                    <a:p>
                      <a:pPr algn="ctr"/>
                      <a:r>
                        <a:rPr b="1" sz="1200">
                          <a:solidFill>
                            <a:srgbClr val="FFFFFF"/>
                          </a:solidFill>
                          <a:latin typeface="Calibri"/>
                        </a:rPr>
                        <a:t>Metric</a:t>
                      </a:r>
                    </a:p>
                  </a:txBody>
                  <a:tcPr>
                    <a:solidFill>
                      <a:srgbClr val="1B3A6B"/>
                    </a:solidFill>
                  </a:tcPr>
                </a:tc>
                <a:tc>
                  <a:txBody>
                    <a:bodyPr/>
                    <a:lstStyle/>
                    <a:p>
                      <a:pPr algn="ctr"/>
                      <a:r>
                        <a:rPr b="1" sz="1200">
                          <a:solidFill>
                            <a:srgbClr val="FFFFFF"/>
                          </a:solidFill>
                          <a:latin typeface="Calibri"/>
                        </a:rPr>
                        <a:t>Logistic Regression</a:t>
                      </a:r>
                    </a:p>
                  </a:txBody>
                  <a:tcPr>
                    <a:solidFill>
                      <a:srgbClr val="1B3A6B"/>
                    </a:solidFill>
                  </a:tcPr>
                </a:tc>
                <a:tc>
                  <a:txBody>
                    <a:bodyPr/>
                    <a:lstStyle/>
                    <a:p>
                      <a:pPr algn="ctr"/>
                      <a:r>
                        <a:rPr b="1" sz="1200">
                          <a:solidFill>
                            <a:srgbClr val="FFFFFF"/>
                          </a:solidFill>
                          <a:latin typeface="Calibri"/>
                        </a:rPr>
                        <a:t>Random Forest</a:t>
                      </a:r>
                    </a:p>
                  </a:txBody>
                  <a:tcPr>
                    <a:solidFill>
                      <a:srgbClr val="1B3A6B"/>
                    </a:solidFill>
                  </a:tcPr>
                </a:tc>
                <a:tc>
                  <a:txBody>
                    <a:bodyPr/>
                    <a:lstStyle/>
                    <a:p>
                      <a:pPr algn="ctr"/>
                      <a:r>
                        <a:rPr b="1" sz="1200">
                          <a:solidFill>
                            <a:srgbClr val="FFFFFF"/>
                          </a:solidFill>
                          <a:latin typeface="Calibri"/>
                        </a:rPr>
                        <a:t>Hybrid Voting (Ours)</a:t>
                      </a:r>
                    </a:p>
                  </a:txBody>
                  <a:tcPr>
                    <a:solidFill>
                      <a:srgbClr val="1B3A6B"/>
                    </a:solidFill>
                  </a:tcPr>
                </a:tc>
              </a:tr>
              <a:tr h="594360">
                <a:tc>
                  <a:txBody>
                    <a:bodyPr/>
                    <a:lstStyle/>
                    <a:p>
                      <a:pPr algn="ctr"/>
                      <a:r>
                        <a:rPr sz="1200">
                          <a:solidFill>
                            <a:srgbClr val="1B3A6B"/>
                          </a:solidFill>
                          <a:latin typeface="Calibri"/>
                        </a:rPr>
                        <a:t>Accuracy</a:t>
                      </a:r>
                    </a:p>
                  </a:txBody>
                  <a:tcPr>
                    <a:solidFill>
                      <a:srgbClr val="D6EAF8"/>
                    </a:solidFill>
                  </a:tcPr>
                </a:tc>
                <a:tc>
                  <a:txBody>
                    <a:bodyPr/>
                    <a:lstStyle/>
                    <a:p>
                      <a:pPr algn="ctr"/>
                      <a:r>
                        <a:rPr sz="1200">
                          <a:solidFill>
                            <a:srgbClr val="1B3A6B"/>
                          </a:solidFill>
                          <a:latin typeface="Calibri"/>
                        </a:rPr>
                        <a:t>82.45%</a:t>
                      </a:r>
                    </a:p>
                  </a:txBody>
                  <a:tcPr>
                    <a:solidFill>
                      <a:srgbClr val="D6EAF8"/>
                    </a:solidFill>
                  </a:tcPr>
                </a:tc>
                <a:tc>
                  <a:txBody>
                    <a:bodyPr/>
                    <a:lstStyle/>
                    <a:p>
                      <a:pPr algn="ctr"/>
                      <a:r>
                        <a:rPr sz="1200">
                          <a:solidFill>
                            <a:srgbClr val="1B3A6B"/>
                          </a:solidFill>
                          <a:latin typeface="Calibri"/>
                        </a:rPr>
                        <a:t>92.90%</a:t>
                      </a:r>
                    </a:p>
                  </a:txBody>
                  <a:tcPr>
                    <a:solidFill>
                      <a:srgbClr val="D6EAF8"/>
                    </a:solidFill>
                  </a:tcPr>
                </a:tc>
                <a:tc>
                  <a:txBody>
                    <a:bodyPr/>
                    <a:lstStyle/>
                    <a:p>
                      <a:pPr algn="ctr"/>
                      <a:r>
                        <a:rPr sz="1200">
                          <a:solidFill>
                            <a:srgbClr val="1B3A6B"/>
                          </a:solidFill>
                          <a:latin typeface="Calibri"/>
                        </a:rPr>
                        <a:t>90.65%</a:t>
                      </a:r>
                    </a:p>
                  </a:txBody>
                  <a:tcPr>
                    <a:solidFill>
                      <a:srgbClr val="D6EAF8"/>
                    </a:solidFill>
                  </a:tcPr>
                </a:tc>
              </a:tr>
              <a:tr h="594360">
                <a:tc>
                  <a:txBody>
                    <a:bodyPr/>
                    <a:lstStyle/>
                    <a:p>
                      <a:pPr algn="ctr"/>
                      <a:r>
                        <a:rPr sz="1200">
                          <a:solidFill>
                            <a:srgbClr val="1B3A6B"/>
                          </a:solidFill>
                          <a:latin typeface="Calibri"/>
                        </a:rPr>
                        <a:t>Precision</a:t>
                      </a:r>
                    </a:p>
                  </a:txBody>
                  <a:tcPr>
                    <a:solidFill>
                      <a:srgbClr val="FFFFFF"/>
                    </a:solidFill>
                  </a:tcPr>
                </a:tc>
                <a:tc>
                  <a:txBody>
                    <a:bodyPr/>
                    <a:lstStyle/>
                    <a:p>
                      <a:pPr algn="ctr"/>
                      <a:r>
                        <a:rPr sz="1200">
                          <a:solidFill>
                            <a:srgbClr val="1B3A6B"/>
                          </a:solidFill>
                          <a:latin typeface="Calibri"/>
                        </a:rPr>
                        <a:t>84.93%</a:t>
                      </a:r>
                    </a:p>
                  </a:txBody>
                  <a:tcPr>
                    <a:solidFill>
                      <a:srgbClr val="FFFFFF"/>
                    </a:solidFill>
                  </a:tcPr>
                </a:tc>
                <a:tc>
                  <a:txBody>
                    <a:bodyPr/>
                    <a:lstStyle/>
                    <a:p>
                      <a:pPr algn="ctr"/>
                      <a:r>
                        <a:rPr sz="1200">
                          <a:solidFill>
                            <a:srgbClr val="1B3A6B"/>
                          </a:solidFill>
                          <a:latin typeface="Calibri"/>
                        </a:rPr>
                        <a:t>93.69%</a:t>
                      </a:r>
                    </a:p>
                  </a:txBody>
                  <a:tcPr>
                    <a:solidFill>
                      <a:srgbClr val="FFFFFF"/>
                    </a:solidFill>
                  </a:tcPr>
                </a:tc>
                <a:tc>
                  <a:txBody>
                    <a:bodyPr/>
                    <a:lstStyle/>
                    <a:p>
                      <a:pPr algn="ctr"/>
                      <a:r>
                        <a:rPr sz="1200">
                          <a:solidFill>
                            <a:srgbClr val="1B3A6B"/>
                          </a:solidFill>
                          <a:latin typeface="Calibri"/>
                        </a:rPr>
                        <a:t>92.74%</a:t>
                      </a:r>
                    </a:p>
                  </a:txBody>
                  <a:tcPr>
                    <a:solidFill>
                      <a:srgbClr val="FFFFFF"/>
                    </a:solidFill>
                  </a:tcPr>
                </a:tc>
              </a:tr>
              <a:tr h="594360">
                <a:tc>
                  <a:txBody>
                    <a:bodyPr/>
                    <a:lstStyle/>
                    <a:p>
                      <a:pPr algn="ctr"/>
                      <a:r>
                        <a:rPr sz="1200">
                          <a:solidFill>
                            <a:srgbClr val="1B3A6B"/>
                          </a:solidFill>
                          <a:latin typeface="Calibri"/>
                        </a:rPr>
                        <a:t>Recall</a:t>
                      </a:r>
                    </a:p>
                  </a:txBody>
                  <a:tcPr>
                    <a:solidFill>
                      <a:srgbClr val="D6EAF8"/>
                    </a:solidFill>
                  </a:tcPr>
                </a:tc>
                <a:tc>
                  <a:txBody>
                    <a:bodyPr/>
                    <a:lstStyle/>
                    <a:p>
                      <a:pPr algn="ctr"/>
                      <a:r>
                        <a:rPr sz="1200">
                          <a:solidFill>
                            <a:srgbClr val="1B3A6B"/>
                          </a:solidFill>
                          <a:latin typeface="Calibri"/>
                        </a:rPr>
                        <a:t>78.90%</a:t>
                      </a:r>
                    </a:p>
                  </a:txBody>
                  <a:tcPr>
                    <a:solidFill>
                      <a:srgbClr val="D6EAF8"/>
                    </a:solidFill>
                  </a:tcPr>
                </a:tc>
                <a:tc>
                  <a:txBody>
                    <a:bodyPr/>
                    <a:lstStyle/>
                    <a:p>
                      <a:pPr algn="ctr"/>
                      <a:r>
                        <a:rPr sz="1200">
                          <a:solidFill>
                            <a:srgbClr val="1B3A6B"/>
                          </a:solidFill>
                          <a:latin typeface="Calibri"/>
                        </a:rPr>
                        <a:t>92.00%</a:t>
                      </a:r>
                    </a:p>
                  </a:txBody>
                  <a:tcPr>
                    <a:solidFill>
                      <a:srgbClr val="D6EAF8"/>
                    </a:solidFill>
                  </a:tcPr>
                </a:tc>
                <a:tc>
                  <a:txBody>
                    <a:bodyPr/>
                    <a:lstStyle/>
                    <a:p>
                      <a:pPr algn="ctr"/>
                      <a:r>
                        <a:rPr sz="1200">
                          <a:solidFill>
                            <a:srgbClr val="1B3A6B"/>
                          </a:solidFill>
                          <a:latin typeface="Calibri"/>
                        </a:rPr>
                        <a:t>88.20%</a:t>
                      </a:r>
                    </a:p>
                  </a:txBody>
                  <a:tcPr>
                    <a:solidFill>
                      <a:srgbClr val="D6EAF8"/>
                    </a:solidFill>
                  </a:tcPr>
                </a:tc>
              </a:tr>
              <a:tr h="594360">
                <a:tc>
                  <a:txBody>
                    <a:bodyPr/>
                    <a:lstStyle/>
                    <a:p>
                      <a:pPr algn="ctr"/>
                      <a:r>
                        <a:rPr sz="1200">
                          <a:solidFill>
                            <a:srgbClr val="1B3A6B"/>
                          </a:solidFill>
                          <a:latin typeface="Calibri"/>
                        </a:rPr>
                        <a:t>Specificity</a:t>
                      </a:r>
                    </a:p>
                  </a:txBody>
                  <a:tcPr>
                    <a:solidFill>
                      <a:srgbClr val="FFFFFF"/>
                    </a:solidFill>
                  </a:tcPr>
                </a:tc>
                <a:tc>
                  <a:txBody>
                    <a:bodyPr/>
                    <a:lstStyle/>
                    <a:p>
                      <a:pPr algn="ctr"/>
                      <a:r>
                        <a:rPr sz="1200">
                          <a:solidFill>
                            <a:srgbClr val="1B3A6B"/>
                          </a:solidFill>
                          <a:latin typeface="Calibri"/>
                        </a:rPr>
                        <a:t>86.00%</a:t>
                      </a:r>
                    </a:p>
                  </a:txBody>
                  <a:tcPr>
                    <a:solidFill>
                      <a:srgbClr val="FFFFFF"/>
                    </a:solidFill>
                  </a:tcPr>
                </a:tc>
                <a:tc>
                  <a:txBody>
                    <a:bodyPr/>
                    <a:lstStyle/>
                    <a:p>
                      <a:pPr algn="ctr"/>
                      <a:r>
                        <a:rPr sz="1200">
                          <a:solidFill>
                            <a:srgbClr val="1B3A6B"/>
                          </a:solidFill>
                          <a:latin typeface="Calibri"/>
                        </a:rPr>
                        <a:t>93.80%</a:t>
                      </a:r>
                    </a:p>
                  </a:txBody>
                  <a:tcPr>
                    <a:solidFill>
                      <a:srgbClr val="FFFFFF"/>
                    </a:solidFill>
                  </a:tcPr>
                </a:tc>
                <a:tc>
                  <a:txBody>
                    <a:bodyPr/>
                    <a:lstStyle/>
                    <a:p>
                      <a:pPr algn="ctr"/>
                      <a:r>
                        <a:rPr sz="1200">
                          <a:solidFill>
                            <a:srgbClr val="1B3A6B"/>
                          </a:solidFill>
                          <a:latin typeface="Calibri"/>
                        </a:rPr>
                        <a:t>93.10%</a:t>
                      </a:r>
                    </a:p>
                  </a:txBody>
                  <a:tcPr>
                    <a:solidFill>
                      <a:srgbClr val="FFFFFF"/>
                    </a:solidFill>
                  </a:tcPr>
                </a:tc>
              </a:tr>
              <a:tr h="594360">
                <a:tc>
                  <a:txBody>
                    <a:bodyPr/>
                    <a:lstStyle/>
                    <a:p>
                      <a:pPr algn="ctr"/>
                      <a:r>
                        <a:rPr sz="1200">
                          <a:solidFill>
                            <a:srgbClr val="1B3A6B"/>
                          </a:solidFill>
                          <a:latin typeface="Calibri"/>
                        </a:rPr>
                        <a:t>F1-Score</a:t>
                      </a:r>
                    </a:p>
                  </a:txBody>
                  <a:tcPr>
                    <a:solidFill>
                      <a:srgbClr val="D6EAF8"/>
                    </a:solidFill>
                  </a:tcPr>
                </a:tc>
                <a:tc>
                  <a:txBody>
                    <a:bodyPr/>
                    <a:lstStyle/>
                    <a:p>
                      <a:pPr algn="ctr"/>
                      <a:r>
                        <a:rPr sz="1200">
                          <a:solidFill>
                            <a:srgbClr val="1B3A6B"/>
                          </a:solidFill>
                          <a:latin typeface="Calibri"/>
                        </a:rPr>
                        <a:t>81.80%</a:t>
                      </a:r>
                    </a:p>
                  </a:txBody>
                  <a:tcPr>
                    <a:solidFill>
                      <a:srgbClr val="D6EAF8"/>
                    </a:solidFill>
                  </a:tcPr>
                </a:tc>
                <a:tc>
                  <a:txBody>
                    <a:bodyPr/>
                    <a:lstStyle/>
                    <a:p>
                      <a:pPr algn="ctr"/>
                      <a:r>
                        <a:rPr sz="1200">
                          <a:solidFill>
                            <a:srgbClr val="1B3A6B"/>
                          </a:solidFill>
                          <a:latin typeface="Calibri"/>
                        </a:rPr>
                        <a:t>92.84%</a:t>
                      </a:r>
                    </a:p>
                  </a:txBody>
                  <a:tcPr>
                    <a:solidFill>
                      <a:srgbClr val="D6EAF8"/>
                    </a:solidFill>
                  </a:tcPr>
                </a:tc>
                <a:tc>
                  <a:txBody>
                    <a:bodyPr/>
                    <a:lstStyle/>
                    <a:p>
                      <a:pPr algn="ctr"/>
                      <a:r>
                        <a:rPr sz="1200">
                          <a:solidFill>
                            <a:srgbClr val="1B3A6B"/>
                          </a:solidFill>
                          <a:latin typeface="Calibri"/>
                        </a:rPr>
                        <a:t>90.42%</a:t>
                      </a:r>
                    </a:p>
                  </a:txBody>
                  <a:tcPr>
                    <a:solidFill>
                      <a:srgbClr val="D6EAF8"/>
                    </a:solidFill>
                  </a:tcPr>
                </a:tc>
              </a:tr>
              <a:tr h="594360">
                <a:tc>
                  <a:txBody>
                    <a:bodyPr/>
                    <a:lstStyle/>
                    <a:p>
                      <a:pPr algn="ctr"/>
                      <a:r>
                        <a:rPr sz="1200">
                          <a:solidFill>
                            <a:srgbClr val="1B3A6B"/>
                          </a:solidFill>
                          <a:latin typeface="Calibri"/>
                        </a:rPr>
                        <a:t>ROC-AUC</a:t>
                      </a:r>
                    </a:p>
                  </a:txBody>
                  <a:tcPr>
                    <a:solidFill>
                      <a:srgbClr val="FFFFFF"/>
                    </a:solidFill>
                  </a:tcPr>
                </a:tc>
                <a:tc>
                  <a:txBody>
                    <a:bodyPr/>
                    <a:lstStyle/>
                    <a:p>
                      <a:pPr algn="ctr"/>
                      <a:r>
                        <a:rPr sz="1200">
                          <a:solidFill>
                            <a:srgbClr val="1B3A6B"/>
                          </a:solidFill>
                          <a:latin typeface="Calibri"/>
                        </a:rPr>
                        <a:t>90.88%</a:t>
                      </a:r>
                    </a:p>
                  </a:txBody>
                  <a:tcPr>
                    <a:solidFill>
                      <a:srgbClr val="FFFFFF"/>
                    </a:solidFill>
                  </a:tcPr>
                </a:tc>
                <a:tc>
                  <a:txBody>
                    <a:bodyPr/>
                    <a:lstStyle/>
                    <a:p>
                      <a:pPr algn="ctr"/>
                      <a:r>
                        <a:rPr sz="1200">
                          <a:solidFill>
                            <a:srgbClr val="1B3A6B"/>
                          </a:solidFill>
                          <a:latin typeface="Calibri"/>
                        </a:rPr>
                        <a:t>97.70%</a:t>
                      </a:r>
                    </a:p>
                  </a:txBody>
                  <a:tcPr>
                    <a:solidFill>
                      <a:srgbClr val="FFFFFF"/>
                    </a:solidFill>
                  </a:tcPr>
                </a:tc>
                <a:tc>
                  <a:txBody>
                    <a:bodyPr/>
                    <a:lstStyle/>
                    <a:p>
                      <a:pPr algn="ctr"/>
                      <a:r>
                        <a:rPr sz="1200">
                          <a:solidFill>
                            <a:srgbClr val="1B3A6B"/>
                          </a:solidFill>
                          <a:latin typeface="Calibri"/>
                        </a:rPr>
                        <a:t>96.37%</a:t>
                      </a:r>
                    </a:p>
                  </a:txBody>
                  <a:tcPr>
                    <a:solidFill>
                      <a:srgbClr val="FFFFFF"/>
                    </a:solidFill>
                  </a:tcPr>
                </a:tc>
              </a:tr>
              <a:tr h="594360">
                <a:tc>
                  <a:txBody>
                    <a:bodyPr/>
                    <a:lstStyle/>
                    <a:p>
                      <a:pPr algn="ctr"/>
                      <a:r>
                        <a:rPr sz="1200">
                          <a:solidFill>
                            <a:srgbClr val="1B3A6B"/>
                          </a:solidFill>
                          <a:latin typeface="Calibri"/>
                        </a:rPr>
                        <a:t>CV Accuracy</a:t>
                      </a:r>
                    </a:p>
                  </a:txBody>
                  <a:tcPr>
                    <a:solidFill>
                      <a:srgbClr val="D6EAF8"/>
                    </a:solidFill>
                  </a:tcPr>
                </a:tc>
                <a:tc>
                  <a:txBody>
                    <a:bodyPr/>
                    <a:lstStyle/>
                    <a:p>
                      <a:pPr algn="ctr"/>
                      <a:r>
                        <a:rPr sz="1200">
                          <a:solidFill>
                            <a:srgbClr val="1B3A6B"/>
                          </a:solidFill>
                          <a:latin typeface="Calibri"/>
                        </a:rPr>
                        <a:t>83.81% ±1.21%</a:t>
                      </a:r>
                    </a:p>
                  </a:txBody>
                  <a:tcPr>
                    <a:solidFill>
                      <a:srgbClr val="D6EAF8"/>
                    </a:solidFill>
                  </a:tcPr>
                </a:tc>
                <a:tc>
                  <a:txBody>
                    <a:bodyPr/>
                    <a:lstStyle/>
                    <a:p>
                      <a:pPr algn="ctr"/>
                      <a:r>
                        <a:rPr sz="1200">
                          <a:solidFill>
                            <a:srgbClr val="1B3A6B"/>
                          </a:solidFill>
                          <a:latin typeface="Calibri"/>
                        </a:rPr>
                        <a:t>92.34% ±0.51%</a:t>
                      </a:r>
                    </a:p>
                  </a:txBody>
                  <a:tcPr>
                    <a:solidFill>
                      <a:srgbClr val="D6EAF8"/>
                    </a:solidFill>
                  </a:tcPr>
                </a:tc>
                <a:tc>
                  <a:txBody>
                    <a:bodyPr/>
                    <a:lstStyle/>
                    <a:p>
                      <a:pPr algn="ctr"/>
                      <a:r>
                        <a:rPr sz="1200">
                          <a:solidFill>
                            <a:srgbClr val="1B3A6B"/>
                          </a:solidFill>
                          <a:latin typeface="Calibri"/>
                        </a:rPr>
                        <a:t>90.56% ±0.32%</a:t>
                      </a:r>
                    </a:p>
                  </a:txBody>
                  <a:tcPr>
                    <a:solidFill>
                      <a:srgbClr val="D6EAF8"/>
                    </a:solidFill>
                  </a:tcPr>
                </a:tc>
              </a:tr>
            </a:tbl>
          </a:graphicData>
        </a:graphic>
      </p:graphicFrame>
      <p:sp>
        <p:nvSpPr>
          <p:cNvPr id="8" name="TextBox 7"/>
          <p:cNvSpPr txBox="1"/>
          <p:nvPr/>
        </p:nvSpPr>
        <p:spPr>
          <a:xfrm>
            <a:off x="365760" y="6172200"/>
            <a:ext cx="11430000" cy="457200"/>
          </a:xfrm>
          <a:prstGeom prst="rect">
            <a:avLst/>
          </a:prstGeom>
          <a:noFill/>
        </p:spPr>
        <p:txBody>
          <a:bodyPr wrap="square">
            <a:spAutoFit/>
          </a:bodyPr>
          <a:lstStyle/>
          <a:p>
            <a:pPr algn="l"/>
            <a:r>
              <a:rPr sz="1100" b="1" i="0">
                <a:solidFill>
                  <a:srgbClr val="C0392B"/>
                </a:solidFill>
                <a:latin typeface="Calibri"/>
              </a:rPr>
              <a:t>★ Hybrid achieves best CV stability (lowest variance ±0.32%)  |  [Values are ACTUAL results — do NOT replace]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Confusion Matrix &amp; ROC Curve</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12 / 17</a:t>
            </a:r>
          </a:p>
        </p:txBody>
      </p:sp>
      <p:pic>
        <p:nvPicPr>
          <p:cNvPr id="6" name="Picture 5" descr="confusion_matrices.png"/>
          <p:cNvPicPr>
            <a:picLocks noChangeAspect="1"/>
          </p:cNvPicPr>
          <p:nvPr/>
        </p:nvPicPr>
        <p:blipFill>
          <a:blip r:embed="rId2"/>
          <a:stretch>
            <a:fillRect/>
          </a:stretch>
        </p:blipFill>
        <p:spPr>
          <a:xfrm>
            <a:off x="182880" y="1280160"/>
            <a:ext cx="5852160" cy="5212080"/>
          </a:xfrm>
          <a:prstGeom prst="rect">
            <a:avLst/>
          </a:prstGeom>
        </p:spPr>
      </p:pic>
      <p:pic>
        <p:nvPicPr>
          <p:cNvPr id="7" name="Picture 6" descr="roc_curves.png"/>
          <p:cNvPicPr>
            <a:picLocks noChangeAspect="1"/>
          </p:cNvPicPr>
          <p:nvPr/>
        </p:nvPicPr>
        <p:blipFill>
          <a:blip r:embed="rId3"/>
          <a:stretch>
            <a:fillRect/>
          </a:stretch>
        </p:blipFill>
        <p:spPr>
          <a:xfrm>
            <a:off x="6126480" y="1280160"/>
            <a:ext cx="5852160" cy="52120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Random Forest Feature Importance</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13 / 17</a:t>
            </a:r>
          </a:p>
        </p:txBody>
      </p:sp>
      <p:pic>
        <p:nvPicPr>
          <p:cNvPr id="6" name="Picture 5" descr="feature_importance.png"/>
          <p:cNvPicPr>
            <a:picLocks noChangeAspect="1"/>
          </p:cNvPicPr>
          <p:nvPr/>
        </p:nvPicPr>
        <p:blipFill>
          <a:blip r:embed="rId2"/>
          <a:stretch>
            <a:fillRect/>
          </a:stretch>
        </p:blipFill>
        <p:spPr>
          <a:xfrm>
            <a:off x="274320" y="1280160"/>
            <a:ext cx="7315200" cy="5212080"/>
          </a:xfrm>
          <a:prstGeom prst="rect">
            <a:avLst/>
          </a:prstGeom>
        </p:spPr>
      </p:pic>
      <p:graphicFrame>
        <p:nvGraphicFramePr>
          <p:cNvPr id="7" name="Table 6"/>
          <p:cNvGraphicFramePr>
            <a:graphicFrameLocks noGrp="1"/>
          </p:cNvGraphicFramePr>
          <p:nvPr/>
        </p:nvGraphicFramePr>
        <p:xfrm>
          <a:off x="7772400" y="1371600"/>
          <a:ext cx="4206240" cy="3200400"/>
        </p:xfrm>
        <a:graphic>
          <a:graphicData uri="http://schemas.openxmlformats.org/drawingml/2006/table">
            <a:tbl>
              <a:tblPr firstRow="1" bandRow="1">
                <a:tableStyleId>{5C22544A-7EE6-4342-B048-85BDC9FD1C3A}</a:tableStyleId>
              </a:tblPr>
              <a:tblGrid>
                <a:gridCol w="1402080"/>
                <a:gridCol w="1402080"/>
                <a:gridCol w="1402080"/>
              </a:tblGrid>
              <a:tr h="533400">
                <a:tc>
                  <a:txBody>
                    <a:bodyPr/>
                    <a:lstStyle/>
                    <a:p>
                      <a:pPr algn="ctr"/>
                      <a:r>
                        <a:rPr b="1" sz="1100">
                          <a:solidFill>
                            <a:srgbClr val="FFFFFF"/>
                          </a:solidFill>
                          <a:latin typeface="Calibri"/>
                        </a:rPr>
                        <a:t>Rank</a:t>
                      </a:r>
                    </a:p>
                  </a:txBody>
                  <a:tcPr>
                    <a:solidFill>
                      <a:srgbClr val="1B3A6B"/>
                    </a:solidFill>
                  </a:tcPr>
                </a:tc>
                <a:tc>
                  <a:txBody>
                    <a:bodyPr/>
                    <a:lstStyle/>
                    <a:p>
                      <a:pPr algn="ctr"/>
                      <a:r>
                        <a:rPr b="1" sz="1100">
                          <a:solidFill>
                            <a:srgbClr val="FFFFFF"/>
                          </a:solidFill>
                          <a:latin typeface="Calibri"/>
                        </a:rPr>
                        <a:t>Feature</a:t>
                      </a:r>
                    </a:p>
                  </a:txBody>
                  <a:tcPr>
                    <a:solidFill>
                      <a:srgbClr val="1B3A6B"/>
                    </a:solidFill>
                  </a:tcPr>
                </a:tc>
                <a:tc>
                  <a:txBody>
                    <a:bodyPr/>
                    <a:lstStyle/>
                    <a:p>
                      <a:pPr algn="ctr"/>
                      <a:r>
                        <a:rPr b="1" sz="1100">
                          <a:solidFill>
                            <a:srgbClr val="FFFFFF"/>
                          </a:solidFill>
                          <a:latin typeface="Calibri"/>
                        </a:rPr>
                        <a:t>Importance</a:t>
                      </a:r>
                    </a:p>
                  </a:txBody>
                  <a:tcPr>
                    <a:solidFill>
                      <a:srgbClr val="1B3A6B"/>
                    </a:solidFill>
                  </a:tcPr>
                </a:tc>
              </a:tr>
              <a:tr h="533400">
                <a:tc>
                  <a:txBody>
                    <a:bodyPr/>
                    <a:lstStyle/>
                    <a:p>
                      <a:pPr algn="ctr"/>
                      <a:r>
                        <a:rPr sz="1100">
                          <a:solidFill>
                            <a:srgbClr val="1B3A6B"/>
                          </a:solidFill>
                          <a:latin typeface="Calibri"/>
                        </a:rPr>
                        <a:t>1</a:t>
                      </a:r>
                    </a:p>
                  </a:txBody>
                  <a:tcPr>
                    <a:solidFill>
                      <a:srgbClr val="D6EAF8"/>
                    </a:solidFill>
                  </a:tcPr>
                </a:tc>
                <a:tc>
                  <a:txBody>
                    <a:bodyPr/>
                    <a:lstStyle/>
                    <a:p>
                      <a:pPr algn="ctr"/>
                      <a:r>
                        <a:rPr sz="1100">
                          <a:solidFill>
                            <a:srgbClr val="1B3A6B"/>
                          </a:solidFill>
                          <a:latin typeface="Calibri"/>
                        </a:rPr>
                        <a:t>url_length</a:t>
                      </a:r>
                    </a:p>
                  </a:txBody>
                  <a:tcPr>
                    <a:solidFill>
                      <a:srgbClr val="D6EAF8"/>
                    </a:solidFill>
                  </a:tcPr>
                </a:tc>
                <a:tc>
                  <a:txBody>
                    <a:bodyPr/>
                    <a:lstStyle/>
                    <a:p>
                      <a:pPr algn="ctr"/>
                      <a:r>
                        <a:rPr sz="1100">
                          <a:solidFill>
                            <a:srgbClr val="1B3A6B"/>
                          </a:solidFill>
                          <a:latin typeface="Calibri"/>
                        </a:rPr>
                        <a:t>23.74%</a:t>
                      </a:r>
                    </a:p>
                  </a:txBody>
                  <a:tcPr>
                    <a:solidFill>
                      <a:srgbClr val="D6EAF8"/>
                    </a:solidFill>
                  </a:tcPr>
                </a:tc>
              </a:tr>
              <a:tr h="533400">
                <a:tc>
                  <a:txBody>
                    <a:bodyPr/>
                    <a:lstStyle/>
                    <a:p>
                      <a:pPr algn="ctr"/>
                      <a:r>
                        <a:rPr sz="1100">
                          <a:solidFill>
                            <a:srgbClr val="1B3A6B"/>
                          </a:solidFill>
                          <a:latin typeface="Calibri"/>
                        </a:rPr>
                        <a:t>2</a:t>
                      </a:r>
                    </a:p>
                  </a:txBody>
                  <a:tcPr>
                    <a:solidFill>
                      <a:srgbClr val="FFFFFF"/>
                    </a:solidFill>
                  </a:tcPr>
                </a:tc>
                <a:tc>
                  <a:txBody>
                    <a:bodyPr/>
                    <a:lstStyle/>
                    <a:p>
                      <a:pPr algn="ctr"/>
                      <a:r>
                        <a:rPr sz="1100">
                          <a:solidFill>
                            <a:srgbClr val="1B3A6B"/>
                          </a:solidFill>
                          <a:latin typeface="Calibri"/>
                        </a:rPr>
                        <a:t>has_https</a:t>
                      </a:r>
                    </a:p>
                  </a:txBody>
                  <a:tcPr>
                    <a:solidFill>
                      <a:srgbClr val="FFFFFF"/>
                    </a:solidFill>
                  </a:tcPr>
                </a:tc>
                <a:tc>
                  <a:txBody>
                    <a:bodyPr/>
                    <a:lstStyle/>
                    <a:p>
                      <a:pPr algn="ctr"/>
                      <a:r>
                        <a:rPr sz="1100">
                          <a:solidFill>
                            <a:srgbClr val="1B3A6B"/>
                          </a:solidFill>
                          <a:latin typeface="Calibri"/>
                        </a:rPr>
                        <a:t>16.96%</a:t>
                      </a:r>
                    </a:p>
                  </a:txBody>
                  <a:tcPr>
                    <a:solidFill>
                      <a:srgbClr val="FFFFFF"/>
                    </a:solidFill>
                  </a:tcPr>
                </a:tc>
              </a:tr>
              <a:tr h="533400">
                <a:tc>
                  <a:txBody>
                    <a:bodyPr/>
                    <a:lstStyle/>
                    <a:p>
                      <a:pPr algn="ctr"/>
                      <a:r>
                        <a:rPr sz="1100">
                          <a:solidFill>
                            <a:srgbClr val="1B3A6B"/>
                          </a:solidFill>
                          <a:latin typeface="Calibri"/>
                        </a:rPr>
                        <a:t>3</a:t>
                      </a:r>
                    </a:p>
                  </a:txBody>
                  <a:tcPr>
                    <a:solidFill>
                      <a:srgbClr val="D6EAF8"/>
                    </a:solidFill>
                  </a:tcPr>
                </a:tc>
                <a:tc>
                  <a:txBody>
                    <a:bodyPr/>
                    <a:lstStyle/>
                    <a:p>
                      <a:pPr algn="ctr"/>
                      <a:r>
                        <a:rPr sz="1100">
                          <a:solidFill>
                            <a:srgbClr val="1B3A6B"/>
                          </a:solidFill>
                          <a:latin typeface="Calibri"/>
                        </a:rPr>
                        <a:t>hostname_length</a:t>
                      </a:r>
                    </a:p>
                  </a:txBody>
                  <a:tcPr>
                    <a:solidFill>
                      <a:srgbClr val="D6EAF8"/>
                    </a:solidFill>
                  </a:tcPr>
                </a:tc>
                <a:tc>
                  <a:txBody>
                    <a:bodyPr/>
                    <a:lstStyle/>
                    <a:p>
                      <a:pPr algn="ctr"/>
                      <a:r>
                        <a:rPr sz="1100">
                          <a:solidFill>
                            <a:srgbClr val="1B3A6B"/>
                          </a:solidFill>
                          <a:latin typeface="Calibri"/>
                        </a:rPr>
                        <a:t>14.41%</a:t>
                      </a:r>
                    </a:p>
                  </a:txBody>
                  <a:tcPr>
                    <a:solidFill>
                      <a:srgbClr val="D6EAF8"/>
                    </a:solidFill>
                  </a:tcPr>
                </a:tc>
              </a:tr>
              <a:tr h="533400">
                <a:tc>
                  <a:txBody>
                    <a:bodyPr/>
                    <a:lstStyle/>
                    <a:p>
                      <a:pPr algn="ctr"/>
                      <a:r>
                        <a:rPr sz="1100">
                          <a:solidFill>
                            <a:srgbClr val="1B3A6B"/>
                          </a:solidFill>
                          <a:latin typeface="Calibri"/>
                        </a:rPr>
                        <a:t>4</a:t>
                      </a:r>
                    </a:p>
                  </a:txBody>
                  <a:tcPr>
                    <a:solidFill>
                      <a:srgbClr val="FFFFFF"/>
                    </a:solidFill>
                  </a:tcPr>
                </a:tc>
                <a:tc>
                  <a:txBody>
                    <a:bodyPr/>
                    <a:lstStyle/>
                    <a:p>
                      <a:pPr algn="ctr"/>
                      <a:r>
                        <a:rPr sz="1100">
                          <a:solidFill>
                            <a:srgbClr val="1B3A6B"/>
                          </a:solidFill>
                          <a:latin typeface="Calibri"/>
                        </a:rPr>
                        <a:t>num_path_levels</a:t>
                      </a:r>
                    </a:p>
                  </a:txBody>
                  <a:tcPr>
                    <a:solidFill>
                      <a:srgbClr val="FFFFFF"/>
                    </a:solidFill>
                  </a:tcPr>
                </a:tc>
                <a:tc>
                  <a:txBody>
                    <a:bodyPr/>
                    <a:lstStyle/>
                    <a:p>
                      <a:pPr algn="ctr"/>
                      <a:r>
                        <a:rPr sz="1100">
                          <a:solidFill>
                            <a:srgbClr val="1B3A6B"/>
                          </a:solidFill>
                          <a:latin typeface="Calibri"/>
                        </a:rPr>
                        <a:t>12.52%</a:t>
                      </a:r>
                    </a:p>
                  </a:txBody>
                  <a:tcPr>
                    <a:solidFill>
                      <a:srgbClr val="FFFFFF"/>
                    </a:solidFill>
                  </a:tcPr>
                </a:tc>
              </a:tr>
              <a:tr h="533400">
                <a:tc>
                  <a:txBody>
                    <a:bodyPr/>
                    <a:lstStyle/>
                    <a:p>
                      <a:pPr algn="ctr"/>
                      <a:r>
                        <a:rPr sz="1100">
                          <a:solidFill>
                            <a:srgbClr val="1B3A6B"/>
                          </a:solidFill>
                          <a:latin typeface="Calibri"/>
                        </a:rPr>
                        <a:t>5</a:t>
                      </a:r>
                    </a:p>
                  </a:txBody>
                  <a:tcPr>
                    <a:solidFill>
                      <a:srgbClr val="D6EAF8"/>
                    </a:solidFill>
                  </a:tcPr>
                </a:tc>
                <a:tc>
                  <a:txBody>
                    <a:bodyPr/>
                    <a:lstStyle/>
                    <a:p>
                      <a:pPr algn="ctr"/>
                      <a:r>
                        <a:rPr sz="1100">
                          <a:solidFill>
                            <a:srgbClr val="1B3A6B"/>
                          </a:solidFill>
                          <a:latin typeface="Calibri"/>
                        </a:rPr>
                        <a:t>num_digits</a:t>
                      </a:r>
                    </a:p>
                  </a:txBody>
                  <a:tcPr>
                    <a:solidFill>
                      <a:srgbClr val="D6EAF8"/>
                    </a:solidFill>
                  </a:tcPr>
                </a:tc>
                <a:tc>
                  <a:txBody>
                    <a:bodyPr/>
                    <a:lstStyle/>
                    <a:p>
                      <a:pPr algn="ctr"/>
                      <a:r>
                        <a:rPr sz="1100">
                          <a:solidFill>
                            <a:srgbClr val="1B3A6B"/>
                          </a:solidFill>
                          <a:latin typeface="Calibri"/>
                        </a:rPr>
                        <a:t>12.21%</a:t>
                      </a:r>
                    </a:p>
                  </a:txBody>
                  <a:tcPr>
                    <a:solidFill>
                      <a:srgbClr val="D6EAF8"/>
                    </a:solidFill>
                  </a:tcPr>
                </a:tc>
              </a:tr>
            </a:tbl>
          </a:graphicData>
        </a:graphic>
      </p:graphicFrame>
      <p:sp>
        <p:nvSpPr>
          <p:cNvPr id="8" name="TextBox 7"/>
          <p:cNvSpPr txBox="1"/>
          <p:nvPr/>
        </p:nvSpPr>
        <p:spPr>
          <a:xfrm>
            <a:off x="7772400" y="4663440"/>
            <a:ext cx="4206240" cy="457200"/>
          </a:xfrm>
          <a:prstGeom prst="rect">
            <a:avLst/>
          </a:prstGeom>
          <a:noFill/>
        </p:spPr>
        <p:txBody>
          <a:bodyPr wrap="square">
            <a:spAutoFit/>
          </a:bodyPr>
          <a:lstStyle/>
          <a:p>
            <a:pPr algn="l"/>
            <a:r>
              <a:rPr sz="1200" b="1" i="0">
                <a:solidFill>
                  <a:srgbClr val="1B3A6B"/>
                </a:solidFill>
                <a:latin typeface="Calibri"/>
              </a:rPr>
              <a:t>Top 5 features drive &gt;79% of classification decisions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Cross-Validation &amp; Hyperparameter Tuning</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14 / 17</a:t>
            </a:r>
          </a:p>
        </p:txBody>
      </p:sp>
      <p:sp>
        <p:nvSpPr>
          <p:cNvPr id="6" name="TextBox 5"/>
          <p:cNvSpPr txBox="1"/>
          <p:nvPr/>
        </p:nvSpPr>
        <p:spPr>
          <a:xfrm>
            <a:off x="365760" y="1325880"/>
            <a:ext cx="10972800" cy="365760"/>
          </a:xfrm>
          <a:prstGeom prst="rect">
            <a:avLst/>
          </a:prstGeom>
          <a:noFill/>
        </p:spPr>
        <p:txBody>
          <a:bodyPr wrap="square">
            <a:spAutoFit/>
          </a:bodyPr>
          <a:lstStyle/>
          <a:p>
            <a:pPr algn="l"/>
            <a:r>
              <a:rPr sz="1600" b="1" i="0">
                <a:solidFill>
                  <a:srgbClr val="1B3A6B"/>
                </a:solidFill>
                <a:latin typeface="Calibri"/>
              </a:rPr>
              <a:t>5-Fold Cross-Validation Results</a:t>
            </a:r>
          </a:p>
        </p:txBody>
      </p:sp>
      <p:graphicFrame>
        <p:nvGraphicFramePr>
          <p:cNvPr id="7" name="Table 6"/>
          <p:cNvGraphicFramePr>
            <a:graphicFrameLocks noGrp="1"/>
          </p:cNvGraphicFramePr>
          <p:nvPr/>
        </p:nvGraphicFramePr>
        <p:xfrm>
          <a:off x="365760" y="1737360"/>
          <a:ext cx="11430000" cy="1645920"/>
        </p:xfrm>
        <a:graphic>
          <a:graphicData uri="http://schemas.openxmlformats.org/drawingml/2006/table">
            <a:tbl>
              <a:tblPr firstRow="1" bandRow="1">
                <a:tableStyleId>{5C22544A-7EE6-4342-B048-85BDC9FD1C3A}</a:tableStyleId>
              </a:tblPr>
              <a:tblGrid>
                <a:gridCol w="2857500"/>
                <a:gridCol w="2857500"/>
                <a:gridCol w="2857500"/>
                <a:gridCol w="2857500"/>
              </a:tblGrid>
              <a:tr h="411480">
                <a:tc>
                  <a:txBody>
                    <a:bodyPr/>
                    <a:lstStyle/>
                    <a:p>
                      <a:pPr algn="ctr"/>
                      <a:r>
                        <a:rPr b="1" sz="1200">
                          <a:solidFill>
                            <a:srgbClr val="FFFFFF"/>
                          </a:solidFill>
                          <a:latin typeface="Calibri"/>
                        </a:rPr>
                        <a:t>Model</a:t>
                      </a:r>
                    </a:p>
                  </a:txBody>
                  <a:tcPr>
                    <a:solidFill>
                      <a:srgbClr val="1B3A6B"/>
                    </a:solidFill>
                  </a:tcPr>
                </a:tc>
                <a:tc>
                  <a:txBody>
                    <a:bodyPr/>
                    <a:lstStyle/>
                    <a:p>
                      <a:pPr algn="ctr"/>
                      <a:r>
                        <a:rPr b="1" sz="1200">
                          <a:solidFill>
                            <a:srgbClr val="FFFFFF"/>
                          </a:solidFill>
                          <a:latin typeface="Calibri"/>
                        </a:rPr>
                        <a:t>Mean CV Accuracy</a:t>
                      </a:r>
                    </a:p>
                  </a:txBody>
                  <a:tcPr>
                    <a:solidFill>
                      <a:srgbClr val="1B3A6B"/>
                    </a:solidFill>
                  </a:tcPr>
                </a:tc>
                <a:tc>
                  <a:txBody>
                    <a:bodyPr/>
                    <a:lstStyle/>
                    <a:p>
                      <a:pPr algn="ctr"/>
                      <a:r>
                        <a:rPr b="1" sz="1200">
                          <a:solidFill>
                            <a:srgbClr val="FFFFFF"/>
                          </a:solidFill>
                          <a:latin typeface="Calibri"/>
                        </a:rPr>
                        <a:t>Std Dev</a:t>
                      </a:r>
                    </a:p>
                  </a:txBody>
                  <a:tcPr>
                    <a:solidFill>
                      <a:srgbClr val="1B3A6B"/>
                    </a:solidFill>
                  </a:tcPr>
                </a:tc>
                <a:tc>
                  <a:txBody>
                    <a:bodyPr/>
                    <a:lstStyle/>
                    <a:p>
                      <a:pPr algn="ctr"/>
                      <a:r>
                        <a:rPr b="1" sz="1200">
                          <a:solidFill>
                            <a:srgbClr val="FFFFFF"/>
                          </a:solidFill>
                          <a:latin typeface="Calibri"/>
                        </a:rPr>
                        <a:t>Interpretation</a:t>
                      </a:r>
                    </a:p>
                  </a:txBody>
                  <a:tcPr>
                    <a:solidFill>
                      <a:srgbClr val="1B3A6B"/>
                    </a:solidFill>
                  </a:tcPr>
                </a:tc>
              </a:tr>
              <a:tr h="411480">
                <a:tc>
                  <a:txBody>
                    <a:bodyPr/>
                    <a:lstStyle/>
                    <a:p>
                      <a:pPr algn="ctr"/>
                      <a:r>
                        <a:rPr sz="1200">
                          <a:solidFill>
                            <a:srgbClr val="1B3A6B"/>
                          </a:solidFill>
                          <a:latin typeface="Calibri"/>
                        </a:rPr>
                        <a:t>Random Forest</a:t>
                      </a:r>
                    </a:p>
                  </a:txBody>
                  <a:tcPr>
                    <a:solidFill>
                      <a:srgbClr val="D6EAF8"/>
                    </a:solidFill>
                  </a:tcPr>
                </a:tc>
                <a:tc>
                  <a:txBody>
                    <a:bodyPr/>
                    <a:lstStyle/>
                    <a:p>
                      <a:pPr algn="ctr"/>
                      <a:r>
                        <a:rPr sz="1200">
                          <a:solidFill>
                            <a:srgbClr val="1B3A6B"/>
                          </a:solidFill>
                          <a:latin typeface="Calibri"/>
                        </a:rPr>
                        <a:t>92.34%</a:t>
                      </a:r>
                    </a:p>
                  </a:txBody>
                  <a:tcPr>
                    <a:solidFill>
                      <a:srgbClr val="D6EAF8"/>
                    </a:solidFill>
                  </a:tcPr>
                </a:tc>
                <a:tc>
                  <a:txBody>
                    <a:bodyPr/>
                    <a:lstStyle/>
                    <a:p>
                      <a:pPr algn="ctr"/>
                      <a:r>
                        <a:rPr sz="1200">
                          <a:solidFill>
                            <a:srgbClr val="1B3A6B"/>
                          </a:solidFill>
                          <a:latin typeface="Calibri"/>
                        </a:rPr>
                        <a:t>±0.51%</a:t>
                      </a:r>
                    </a:p>
                  </a:txBody>
                  <a:tcPr>
                    <a:solidFill>
                      <a:srgbClr val="D6EAF8"/>
                    </a:solidFill>
                  </a:tcPr>
                </a:tc>
                <a:tc>
                  <a:txBody>
                    <a:bodyPr/>
                    <a:lstStyle/>
                    <a:p>
                      <a:pPr algn="ctr"/>
                      <a:r>
                        <a:rPr sz="1200">
                          <a:solidFill>
                            <a:srgbClr val="1B3A6B"/>
                          </a:solidFill>
                          <a:latin typeface="Calibri"/>
                        </a:rPr>
                        <a:t>High accuracy, stable</a:t>
                      </a:r>
                    </a:p>
                  </a:txBody>
                  <a:tcPr>
                    <a:solidFill>
                      <a:srgbClr val="D6EAF8"/>
                    </a:solidFill>
                  </a:tcPr>
                </a:tc>
              </a:tr>
              <a:tr h="411480">
                <a:tc>
                  <a:txBody>
                    <a:bodyPr/>
                    <a:lstStyle/>
                    <a:p>
                      <a:pPr algn="ctr"/>
                      <a:r>
                        <a:rPr sz="1200">
                          <a:solidFill>
                            <a:srgbClr val="1B3A6B"/>
                          </a:solidFill>
                          <a:latin typeface="Calibri"/>
                        </a:rPr>
                        <a:t>Logistic Regression</a:t>
                      </a:r>
                    </a:p>
                  </a:txBody>
                  <a:tcPr>
                    <a:solidFill>
                      <a:srgbClr val="FFFFFF"/>
                    </a:solidFill>
                  </a:tcPr>
                </a:tc>
                <a:tc>
                  <a:txBody>
                    <a:bodyPr/>
                    <a:lstStyle/>
                    <a:p>
                      <a:pPr algn="ctr"/>
                      <a:r>
                        <a:rPr sz="1200">
                          <a:solidFill>
                            <a:srgbClr val="1B3A6B"/>
                          </a:solidFill>
                          <a:latin typeface="Calibri"/>
                        </a:rPr>
                        <a:t>83.81%</a:t>
                      </a:r>
                    </a:p>
                  </a:txBody>
                  <a:tcPr>
                    <a:solidFill>
                      <a:srgbClr val="FFFFFF"/>
                    </a:solidFill>
                  </a:tcPr>
                </a:tc>
                <a:tc>
                  <a:txBody>
                    <a:bodyPr/>
                    <a:lstStyle/>
                    <a:p>
                      <a:pPr algn="ctr"/>
                      <a:r>
                        <a:rPr sz="1200">
                          <a:solidFill>
                            <a:srgbClr val="1B3A6B"/>
                          </a:solidFill>
                          <a:latin typeface="Calibri"/>
                        </a:rPr>
                        <a:t>±1.21%</a:t>
                      </a:r>
                    </a:p>
                  </a:txBody>
                  <a:tcPr>
                    <a:solidFill>
                      <a:srgbClr val="FFFFFF"/>
                    </a:solidFill>
                  </a:tcPr>
                </a:tc>
                <a:tc>
                  <a:txBody>
                    <a:bodyPr/>
                    <a:lstStyle/>
                    <a:p>
                      <a:pPr algn="ctr"/>
                      <a:r>
                        <a:rPr sz="1200">
                          <a:solidFill>
                            <a:srgbClr val="1B3A6B"/>
                          </a:solidFill>
                          <a:latin typeface="Calibri"/>
                        </a:rPr>
                        <a:t>Lower accuracy, more variance</a:t>
                      </a:r>
                    </a:p>
                  </a:txBody>
                  <a:tcPr>
                    <a:solidFill>
                      <a:srgbClr val="FFFFFF"/>
                    </a:solidFill>
                  </a:tcPr>
                </a:tc>
              </a:tr>
              <a:tr h="411480">
                <a:tc>
                  <a:txBody>
                    <a:bodyPr/>
                    <a:lstStyle/>
                    <a:p>
                      <a:pPr algn="ctr"/>
                      <a:r>
                        <a:rPr sz="1200">
                          <a:solidFill>
                            <a:srgbClr val="1B3A6B"/>
                          </a:solidFill>
                          <a:latin typeface="Calibri"/>
                        </a:rPr>
                        <a:t>Hybrid Voting (Soft)</a:t>
                      </a:r>
                    </a:p>
                  </a:txBody>
                  <a:tcPr>
                    <a:solidFill>
                      <a:srgbClr val="D6EAF8"/>
                    </a:solidFill>
                  </a:tcPr>
                </a:tc>
                <a:tc>
                  <a:txBody>
                    <a:bodyPr/>
                    <a:lstStyle/>
                    <a:p>
                      <a:pPr algn="ctr"/>
                      <a:r>
                        <a:rPr sz="1200">
                          <a:solidFill>
                            <a:srgbClr val="1B3A6B"/>
                          </a:solidFill>
                          <a:latin typeface="Calibri"/>
                        </a:rPr>
                        <a:t>90.56%</a:t>
                      </a:r>
                    </a:p>
                  </a:txBody>
                  <a:tcPr>
                    <a:solidFill>
                      <a:srgbClr val="D6EAF8"/>
                    </a:solidFill>
                  </a:tcPr>
                </a:tc>
                <a:tc>
                  <a:txBody>
                    <a:bodyPr/>
                    <a:lstStyle/>
                    <a:p>
                      <a:pPr algn="ctr"/>
                      <a:r>
                        <a:rPr sz="1200">
                          <a:solidFill>
                            <a:srgbClr val="1B3A6B"/>
                          </a:solidFill>
                          <a:latin typeface="Calibri"/>
                        </a:rPr>
                        <a:t>±0.32%</a:t>
                      </a:r>
                    </a:p>
                  </a:txBody>
                  <a:tcPr>
                    <a:solidFill>
                      <a:srgbClr val="D6EAF8"/>
                    </a:solidFill>
                  </a:tcPr>
                </a:tc>
                <a:tc>
                  <a:txBody>
                    <a:bodyPr/>
                    <a:lstStyle/>
                    <a:p>
                      <a:pPr algn="ctr"/>
                      <a:r>
                        <a:rPr sz="1200">
                          <a:solidFill>
                            <a:srgbClr val="1B3A6B"/>
                          </a:solidFill>
                          <a:latin typeface="Calibri"/>
                        </a:rPr>
                        <a:t>Best stability — least overfitting</a:t>
                      </a:r>
                    </a:p>
                  </a:txBody>
                  <a:tcPr>
                    <a:solidFill>
                      <a:srgbClr val="D6EAF8"/>
                    </a:solidFill>
                  </a:tcPr>
                </a:tc>
              </a:tr>
            </a:tbl>
          </a:graphicData>
        </a:graphic>
      </p:graphicFrame>
      <p:sp>
        <p:nvSpPr>
          <p:cNvPr id="8" name="TextBox 7"/>
          <p:cNvSpPr txBox="1"/>
          <p:nvPr/>
        </p:nvSpPr>
        <p:spPr>
          <a:xfrm>
            <a:off x="365760" y="3474720"/>
            <a:ext cx="10972800" cy="365760"/>
          </a:xfrm>
          <a:prstGeom prst="rect">
            <a:avLst/>
          </a:prstGeom>
          <a:noFill/>
        </p:spPr>
        <p:txBody>
          <a:bodyPr wrap="square">
            <a:spAutoFit/>
          </a:bodyPr>
          <a:lstStyle/>
          <a:p>
            <a:pPr algn="l"/>
            <a:r>
              <a:rPr sz="1600" b="1" i="0">
                <a:solidFill>
                  <a:srgbClr val="1B3A6B"/>
                </a:solidFill>
                <a:latin typeface="Calibri"/>
              </a:rPr>
              <a:t>GridSearchCV Parameter Search Space</a:t>
            </a:r>
          </a:p>
        </p:txBody>
      </p:sp>
      <p:graphicFrame>
        <p:nvGraphicFramePr>
          <p:cNvPr id="9" name="Table 8"/>
          <p:cNvGraphicFramePr>
            <a:graphicFrameLocks noGrp="1"/>
          </p:cNvGraphicFramePr>
          <p:nvPr/>
        </p:nvGraphicFramePr>
        <p:xfrm>
          <a:off x="365760" y="3886200"/>
          <a:ext cx="11430000" cy="2011680"/>
        </p:xfrm>
        <a:graphic>
          <a:graphicData uri="http://schemas.openxmlformats.org/drawingml/2006/table">
            <a:tbl>
              <a:tblPr firstRow="1" bandRow="1">
                <a:tableStyleId>{5C22544A-7EE6-4342-B048-85BDC9FD1C3A}</a:tableStyleId>
              </a:tblPr>
              <a:tblGrid>
                <a:gridCol w="3810000"/>
                <a:gridCol w="3810000"/>
                <a:gridCol w="3810000"/>
              </a:tblGrid>
              <a:tr h="670560">
                <a:tc>
                  <a:txBody>
                    <a:bodyPr/>
                    <a:lstStyle/>
                    <a:p>
                      <a:pPr algn="ctr"/>
                      <a:r>
                        <a:rPr b="1" sz="1100">
                          <a:solidFill>
                            <a:srgbClr val="FFFFFF"/>
                          </a:solidFill>
                          <a:latin typeface="Calibri"/>
                        </a:rPr>
                        <a:t>Model</a:t>
                      </a:r>
                    </a:p>
                  </a:txBody>
                  <a:tcPr>
                    <a:solidFill>
                      <a:srgbClr val="1B3A6B"/>
                    </a:solidFill>
                  </a:tcPr>
                </a:tc>
                <a:tc>
                  <a:txBody>
                    <a:bodyPr/>
                    <a:lstStyle/>
                    <a:p>
                      <a:pPr algn="ctr"/>
                      <a:r>
                        <a:rPr b="1" sz="1100">
                          <a:solidFill>
                            <a:srgbClr val="FFFFFF"/>
                          </a:solidFill>
                          <a:latin typeface="Calibri"/>
                        </a:rPr>
                        <a:t>Parameters Searched</a:t>
                      </a:r>
                    </a:p>
                  </a:txBody>
                  <a:tcPr>
                    <a:solidFill>
                      <a:srgbClr val="1B3A6B"/>
                    </a:solidFill>
                  </a:tcPr>
                </a:tc>
                <a:tc>
                  <a:txBody>
                    <a:bodyPr/>
                    <a:lstStyle/>
                    <a:p>
                      <a:pPr algn="ctr"/>
                      <a:r>
                        <a:rPr b="1" sz="1100">
                          <a:solidFill>
                            <a:srgbClr val="FFFFFF"/>
                          </a:solidFill>
                          <a:latin typeface="Calibri"/>
                        </a:rPr>
                        <a:t>Best Values Found</a:t>
                      </a:r>
                    </a:p>
                  </a:txBody>
                  <a:tcPr>
                    <a:solidFill>
                      <a:srgbClr val="1B3A6B"/>
                    </a:solidFill>
                  </a:tcPr>
                </a:tc>
              </a:tr>
              <a:tr h="670560">
                <a:tc>
                  <a:txBody>
                    <a:bodyPr/>
                    <a:lstStyle/>
                    <a:p>
                      <a:pPr algn="ctr"/>
                      <a:r>
                        <a:rPr sz="1100">
                          <a:solidFill>
                            <a:srgbClr val="1B3A6B"/>
                          </a:solidFill>
                          <a:latin typeface="Calibri"/>
                        </a:rPr>
                        <a:t>Random Forest</a:t>
                      </a:r>
                    </a:p>
                  </a:txBody>
                  <a:tcPr>
                    <a:solidFill>
                      <a:srgbClr val="D6EAF8"/>
                    </a:solidFill>
                  </a:tcPr>
                </a:tc>
                <a:tc>
                  <a:txBody>
                    <a:bodyPr/>
                    <a:lstStyle/>
                    <a:p>
                      <a:pPr algn="ctr"/>
                      <a:r>
                        <a:rPr sz="1100">
                          <a:solidFill>
                            <a:srgbClr val="1B3A6B"/>
                          </a:solidFill>
                          <a:latin typeface="Calibri"/>
                        </a:rPr>
                        <a:t>n_estimators: [50,100,150] | max_depth: [10,20,25] | min_samples_split: [2,5,10]</a:t>
                      </a:r>
                    </a:p>
                  </a:txBody>
                  <a:tcPr>
                    <a:solidFill>
                      <a:srgbClr val="D6EAF8"/>
                    </a:solidFill>
                  </a:tcPr>
                </a:tc>
                <a:tc>
                  <a:txBody>
                    <a:bodyPr/>
                    <a:lstStyle/>
                    <a:p>
                      <a:pPr algn="ctr"/>
                      <a:r>
                        <a:rPr sz="1100">
                          <a:solidFill>
                            <a:srgbClr val="1B3A6B"/>
                          </a:solidFill>
                          <a:latin typeface="Calibri"/>
                        </a:rPr>
                        <a:t>n=150, depth=25, split=5</a:t>
                      </a:r>
                    </a:p>
                  </a:txBody>
                  <a:tcPr>
                    <a:solidFill>
                      <a:srgbClr val="D6EAF8"/>
                    </a:solidFill>
                  </a:tcPr>
                </a:tc>
              </a:tr>
              <a:tr h="670560">
                <a:tc>
                  <a:txBody>
                    <a:bodyPr/>
                    <a:lstStyle/>
                    <a:p>
                      <a:pPr algn="ctr"/>
                      <a:r>
                        <a:rPr sz="1100">
                          <a:solidFill>
                            <a:srgbClr val="1B3A6B"/>
                          </a:solidFill>
                          <a:latin typeface="Calibri"/>
                        </a:rPr>
                        <a:t>Logistic Reg.</a:t>
                      </a:r>
                    </a:p>
                  </a:txBody>
                  <a:tcPr>
                    <a:solidFill>
                      <a:srgbClr val="FFFFFF"/>
                    </a:solidFill>
                  </a:tcPr>
                </a:tc>
                <a:tc>
                  <a:txBody>
                    <a:bodyPr/>
                    <a:lstStyle/>
                    <a:p>
                      <a:pPr algn="ctr"/>
                      <a:r>
                        <a:rPr sz="1100">
                          <a:solidFill>
                            <a:srgbClr val="1B3A6B"/>
                          </a:solidFill>
                          <a:latin typeface="Calibri"/>
                        </a:rPr>
                        <a:t>C: [0.01,0.1,1,10] | solver: [lbfgs,liblinear]</a:t>
                      </a:r>
                    </a:p>
                  </a:txBody>
                  <a:tcPr>
                    <a:solidFill>
                      <a:srgbClr val="FFFFFF"/>
                    </a:solidFill>
                  </a:tcPr>
                </a:tc>
                <a:tc>
                  <a:txBody>
                    <a:bodyPr/>
                    <a:lstStyle/>
                    <a:p>
                      <a:pPr algn="ctr"/>
                      <a:r>
                        <a:rPr sz="1100">
                          <a:solidFill>
                            <a:srgbClr val="1B3A6B"/>
                          </a:solidFill>
                          <a:latin typeface="Calibri"/>
                        </a:rPr>
                        <a:t>C=0.1, solver=lbfgs</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Working Demo — Streamlit Web App</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15 / 17</a:t>
            </a:r>
          </a:p>
        </p:txBody>
      </p:sp>
      <p:sp>
        <p:nvSpPr>
          <p:cNvPr id="6" name="Rectangle 5"/>
          <p:cNvSpPr/>
          <p:nvPr/>
        </p:nvSpPr>
        <p:spPr>
          <a:xfrm>
            <a:off x="274320" y="1325880"/>
            <a:ext cx="5486400" cy="2331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99032"/>
            <a:ext cx="5303520" cy="411480"/>
          </a:xfrm>
          <a:prstGeom prst="rect">
            <a:avLst/>
          </a:prstGeom>
          <a:noFill/>
        </p:spPr>
        <p:txBody>
          <a:bodyPr wrap="square">
            <a:spAutoFit/>
          </a:bodyPr>
          <a:lstStyle/>
          <a:p>
            <a:pPr algn="ctr"/>
            <a:r>
              <a:rPr sz="1400" b="1" i="0">
                <a:solidFill>
                  <a:srgbClr val="FFFFFF"/>
                </a:solidFill>
                <a:latin typeface="Calibri"/>
              </a:rPr>
              <a:t>PHISHING  — Confidence: ~92%</a:t>
            </a:r>
          </a:p>
        </p:txBody>
      </p:sp>
      <p:sp>
        <p:nvSpPr>
          <p:cNvPr id="8" name="TextBox 7"/>
          <p:cNvSpPr txBox="1"/>
          <p:nvPr/>
        </p:nvSpPr>
        <p:spPr>
          <a:xfrm>
            <a:off x="365760" y="1828800"/>
            <a:ext cx="5303520" cy="365760"/>
          </a:xfrm>
          <a:prstGeom prst="rect">
            <a:avLst/>
          </a:prstGeom>
          <a:noFill/>
        </p:spPr>
        <p:txBody>
          <a:bodyPr wrap="square">
            <a:spAutoFit/>
          </a:bodyPr>
          <a:lstStyle/>
          <a:p>
            <a:pPr algn="ctr"/>
            <a:r>
              <a:rPr sz="1100" b="0" i="0">
                <a:solidFill>
                  <a:srgbClr val="ECF0F1"/>
                </a:solidFill>
                <a:latin typeface="Calibri"/>
              </a:rPr>
              <a:t>http://login.verify-bank.com/update/account</a:t>
            </a:r>
          </a:p>
        </p:txBody>
      </p:sp>
      <p:sp>
        <p:nvSpPr>
          <p:cNvPr id="9" name="TextBox 8"/>
          <p:cNvSpPr txBox="1"/>
          <p:nvPr/>
        </p:nvSpPr>
        <p:spPr>
          <a:xfrm>
            <a:off x="365760" y="2240280"/>
            <a:ext cx="5303520" cy="1280160"/>
          </a:xfrm>
          <a:prstGeom prst="rect">
            <a:avLst/>
          </a:prstGeom>
          <a:noFill/>
        </p:spPr>
        <p:txBody>
          <a:bodyPr wrap="square">
            <a:spAutoFit/>
          </a:bodyPr>
          <a:lstStyle/>
          <a:p>
            <a:pPr algn="ctr"/>
            <a:r>
              <a:rPr sz="1100" b="0" i="1">
                <a:solidFill>
                  <a:srgbClr val="F39C12"/>
                </a:solidFill>
                <a:latin typeface="Calibri"/>
              </a:rPr>
              <a:t>[INSERT SCREENSHOT of app result for this URL]</a:t>
            </a:r>
          </a:p>
        </p:txBody>
      </p:sp>
      <p:sp>
        <p:nvSpPr>
          <p:cNvPr id="10" name="Rectangle 9"/>
          <p:cNvSpPr/>
          <p:nvPr/>
        </p:nvSpPr>
        <p:spPr>
          <a:xfrm>
            <a:off x="6400800" y="1325880"/>
            <a:ext cx="5486400" cy="2331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399032"/>
            <a:ext cx="5303520" cy="411480"/>
          </a:xfrm>
          <a:prstGeom prst="rect">
            <a:avLst/>
          </a:prstGeom>
          <a:noFill/>
        </p:spPr>
        <p:txBody>
          <a:bodyPr wrap="square">
            <a:spAutoFit/>
          </a:bodyPr>
          <a:lstStyle/>
          <a:p>
            <a:pPr algn="ctr"/>
            <a:r>
              <a:rPr sz="1400" b="1" i="0">
                <a:solidFill>
                  <a:srgbClr val="FFFFFF"/>
                </a:solidFill>
                <a:latin typeface="Calibri"/>
              </a:rPr>
              <a:t>PHISHING  — Confidence: ~88%</a:t>
            </a:r>
          </a:p>
        </p:txBody>
      </p:sp>
      <p:sp>
        <p:nvSpPr>
          <p:cNvPr id="12" name="TextBox 11"/>
          <p:cNvSpPr txBox="1"/>
          <p:nvPr/>
        </p:nvSpPr>
        <p:spPr>
          <a:xfrm>
            <a:off x="6492240" y="1828800"/>
            <a:ext cx="5303520" cy="365760"/>
          </a:xfrm>
          <a:prstGeom prst="rect">
            <a:avLst/>
          </a:prstGeom>
          <a:noFill/>
        </p:spPr>
        <p:txBody>
          <a:bodyPr wrap="square">
            <a:spAutoFit/>
          </a:bodyPr>
          <a:lstStyle/>
          <a:p>
            <a:pPr algn="ctr"/>
            <a:r>
              <a:rPr sz="1100" b="0" i="0">
                <a:solidFill>
                  <a:srgbClr val="ECF0F1"/>
                </a:solidFill>
                <a:latin typeface="Calibri"/>
              </a:rPr>
              <a:t>http://192.168.1.1/paypal/login.php</a:t>
            </a:r>
          </a:p>
        </p:txBody>
      </p:sp>
      <p:sp>
        <p:nvSpPr>
          <p:cNvPr id="13" name="TextBox 12"/>
          <p:cNvSpPr txBox="1"/>
          <p:nvPr/>
        </p:nvSpPr>
        <p:spPr>
          <a:xfrm>
            <a:off x="6492240" y="2240280"/>
            <a:ext cx="5303520" cy="1280160"/>
          </a:xfrm>
          <a:prstGeom prst="rect">
            <a:avLst/>
          </a:prstGeom>
          <a:noFill/>
        </p:spPr>
        <p:txBody>
          <a:bodyPr wrap="square">
            <a:spAutoFit/>
          </a:bodyPr>
          <a:lstStyle/>
          <a:p>
            <a:pPr algn="ctr"/>
            <a:r>
              <a:rPr sz="1100" b="0" i="1">
                <a:solidFill>
                  <a:srgbClr val="F39C12"/>
                </a:solidFill>
                <a:latin typeface="Calibri"/>
              </a:rPr>
              <a:t>[INSERT SCREENSHOT of app result for this URL]</a:t>
            </a:r>
          </a:p>
        </p:txBody>
      </p:sp>
      <p:sp>
        <p:nvSpPr>
          <p:cNvPr id="14" name="Rectangle 13"/>
          <p:cNvSpPr/>
          <p:nvPr/>
        </p:nvSpPr>
        <p:spPr>
          <a:xfrm>
            <a:off x="274320" y="3794760"/>
            <a:ext cx="5486400" cy="2331720"/>
          </a:xfrm>
          <a:prstGeom prst="rect">
            <a:avLst/>
          </a:prstGeom>
          <a:solidFill>
            <a:srgbClr val="117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867912"/>
            <a:ext cx="5303520" cy="411480"/>
          </a:xfrm>
          <a:prstGeom prst="rect">
            <a:avLst/>
          </a:prstGeom>
          <a:noFill/>
        </p:spPr>
        <p:txBody>
          <a:bodyPr wrap="square">
            <a:spAutoFit/>
          </a:bodyPr>
          <a:lstStyle/>
          <a:p>
            <a:pPr algn="ctr"/>
            <a:r>
              <a:rPr sz="1400" b="1" i="0">
                <a:solidFill>
                  <a:srgbClr val="FFFFFF"/>
                </a:solidFill>
                <a:latin typeface="Calibri"/>
              </a:rPr>
              <a:t>LEGITIMATE — Confidence: ~96%</a:t>
            </a:r>
          </a:p>
        </p:txBody>
      </p:sp>
      <p:sp>
        <p:nvSpPr>
          <p:cNvPr id="16" name="TextBox 15"/>
          <p:cNvSpPr txBox="1"/>
          <p:nvPr/>
        </p:nvSpPr>
        <p:spPr>
          <a:xfrm>
            <a:off x="365760" y="4297680"/>
            <a:ext cx="5303520" cy="365760"/>
          </a:xfrm>
          <a:prstGeom prst="rect">
            <a:avLst/>
          </a:prstGeom>
          <a:noFill/>
        </p:spPr>
        <p:txBody>
          <a:bodyPr wrap="square">
            <a:spAutoFit/>
          </a:bodyPr>
          <a:lstStyle/>
          <a:p>
            <a:pPr algn="ctr"/>
            <a:r>
              <a:rPr sz="1100" b="0" i="0">
                <a:solidFill>
                  <a:srgbClr val="ECF0F1"/>
                </a:solidFill>
                <a:latin typeface="Calibri"/>
              </a:rPr>
              <a:t>https://www.google.com/search?q=python</a:t>
            </a:r>
          </a:p>
        </p:txBody>
      </p:sp>
      <p:sp>
        <p:nvSpPr>
          <p:cNvPr id="17" name="TextBox 16"/>
          <p:cNvSpPr txBox="1"/>
          <p:nvPr/>
        </p:nvSpPr>
        <p:spPr>
          <a:xfrm>
            <a:off x="365760" y="4709160"/>
            <a:ext cx="5303520" cy="1280160"/>
          </a:xfrm>
          <a:prstGeom prst="rect">
            <a:avLst/>
          </a:prstGeom>
          <a:noFill/>
        </p:spPr>
        <p:txBody>
          <a:bodyPr wrap="square">
            <a:spAutoFit/>
          </a:bodyPr>
          <a:lstStyle/>
          <a:p>
            <a:pPr algn="ctr"/>
            <a:r>
              <a:rPr sz="1100" b="0" i="1">
                <a:solidFill>
                  <a:srgbClr val="F39C12"/>
                </a:solidFill>
                <a:latin typeface="Calibri"/>
              </a:rPr>
              <a:t>[INSERT SCREENSHOT of app result for this URL]</a:t>
            </a:r>
          </a:p>
        </p:txBody>
      </p:sp>
      <p:sp>
        <p:nvSpPr>
          <p:cNvPr id="18" name="Rectangle 17"/>
          <p:cNvSpPr/>
          <p:nvPr/>
        </p:nvSpPr>
        <p:spPr>
          <a:xfrm>
            <a:off x="6400800" y="3794760"/>
            <a:ext cx="5486400" cy="2331720"/>
          </a:xfrm>
          <a:prstGeom prst="rect">
            <a:avLst/>
          </a:prstGeom>
          <a:solidFill>
            <a:srgbClr val="117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867912"/>
            <a:ext cx="5303520" cy="411480"/>
          </a:xfrm>
          <a:prstGeom prst="rect">
            <a:avLst/>
          </a:prstGeom>
          <a:noFill/>
        </p:spPr>
        <p:txBody>
          <a:bodyPr wrap="square">
            <a:spAutoFit/>
          </a:bodyPr>
          <a:lstStyle/>
          <a:p>
            <a:pPr algn="ctr"/>
            <a:r>
              <a:rPr sz="1400" b="1" i="0">
                <a:solidFill>
                  <a:srgbClr val="FFFFFF"/>
                </a:solidFill>
                <a:latin typeface="Calibri"/>
              </a:rPr>
              <a:t>LEGITIMATE — Confidence: ~91%</a:t>
            </a:r>
          </a:p>
        </p:txBody>
      </p:sp>
      <p:sp>
        <p:nvSpPr>
          <p:cNvPr id="20" name="TextBox 19"/>
          <p:cNvSpPr txBox="1"/>
          <p:nvPr/>
        </p:nvSpPr>
        <p:spPr>
          <a:xfrm>
            <a:off x="6492240" y="4297680"/>
            <a:ext cx="5303520" cy="365760"/>
          </a:xfrm>
          <a:prstGeom prst="rect">
            <a:avLst/>
          </a:prstGeom>
          <a:noFill/>
        </p:spPr>
        <p:txBody>
          <a:bodyPr wrap="square">
            <a:spAutoFit/>
          </a:bodyPr>
          <a:lstStyle/>
          <a:p>
            <a:pPr algn="ctr"/>
            <a:r>
              <a:rPr sz="1100" b="0" i="0">
                <a:solidFill>
                  <a:srgbClr val="ECF0F1"/>
                </a:solidFill>
                <a:latin typeface="Calibri"/>
              </a:rPr>
              <a:t>https://github.com/scikit-learn/scikit-learn</a:t>
            </a:r>
          </a:p>
        </p:txBody>
      </p:sp>
      <p:sp>
        <p:nvSpPr>
          <p:cNvPr id="21" name="TextBox 20"/>
          <p:cNvSpPr txBox="1"/>
          <p:nvPr/>
        </p:nvSpPr>
        <p:spPr>
          <a:xfrm>
            <a:off x="6492240" y="4709160"/>
            <a:ext cx="5303520" cy="1280160"/>
          </a:xfrm>
          <a:prstGeom prst="rect">
            <a:avLst/>
          </a:prstGeom>
          <a:noFill/>
        </p:spPr>
        <p:txBody>
          <a:bodyPr wrap="square">
            <a:spAutoFit/>
          </a:bodyPr>
          <a:lstStyle/>
          <a:p>
            <a:pPr algn="ctr"/>
            <a:r>
              <a:rPr sz="1100" b="0" i="1">
                <a:solidFill>
                  <a:srgbClr val="F39C12"/>
                </a:solidFill>
                <a:latin typeface="Calibri"/>
              </a:rPr>
              <a:t>[INSERT SCREENSHOT of app result for this URL]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Challenges Faced &amp; Solutions</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16 / 17</a:t>
            </a:r>
          </a:p>
        </p:txBody>
      </p:sp>
      <p:graphicFrame>
        <p:nvGraphicFramePr>
          <p:cNvPr id="6" name="Table 5"/>
          <p:cNvGraphicFramePr>
            <a:graphicFrameLocks noGrp="1"/>
          </p:cNvGraphicFramePr>
          <p:nvPr/>
        </p:nvGraphicFramePr>
        <p:xfrm>
          <a:off x="365760" y="1371600"/>
          <a:ext cx="11430000" cy="5166360"/>
        </p:xfrm>
        <a:graphic>
          <a:graphicData uri="http://schemas.openxmlformats.org/drawingml/2006/table">
            <a:tbl>
              <a:tblPr firstRow="1" bandRow="1">
                <a:tableStyleId>{5C22544A-7EE6-4342-B048-85BDC9FD1C3A}</a:tableStyleId>
              </a:tblPr>
              <a:tblGrid>
                <a:gridCol w="3810000"/>
                <a:gridCol w="3810000"/>
                <a:gridCol w="3810000"/>
              </a:tblGrid>
              <a:tr h="861060">
                <a:tc>
                  <a:txBody>
                    <a:bodyPr/>
                    <a:lstStyle/>
                    <a:p>
                      <a:pPr algn="ctr"/>
                      <a:r>
                        <a:rPr b="1" sz="1100">
                          <a:solidFill>
                            <a:srgbClr val="FFFFFF"/>
                          </a:solidFill>
                          <a:latin typeface="Calibri"/>
                        </a:rPr>
                        <a:t>#</a:t>
                      </a:r>
                    </a:p>
                  </a:txBody>
                  <a:tcPr>
                    <a:solidFill>
                      <a:srgbClr val="1B3A6B"/>
                    </a:solidFill>
                  </a:tcPr>
                </a:tc>
                <a:tc>
                  <a:txBody>
                    <a:bodyPr/>
                    <a:lstStyle/>
                    <a:p>
                      <a:pPr algn="ctr"/>
                      <a:r>
                        <a:rPr b="1" sz="1100">
                          <a:solidFill>
                            <a:srgbClr val="FFFFFF"/>
                          </a:solidFill>
                          <a:latin typeface="Calibri"/>
                        </a:rPr>
                        <a:t>Challenge</a:t>
                      </a:r>
                    </a:p>
                  </a:txBody>
                  <a:tcPr>
                    <a:solidFill>
                      <a:srgbClr val="1B3A6B"/>
                    </a:solidFill>
                  </a:tcPr>
                </a:tc>
                <a:tc>
                  <a:txBody>
                    <a:bodyPr/>
                    <a:lstStyle/>
                    <a:p>
                      <a:pPr algn="ctr"/>
                      <a:r>
                        <a:rPr b="1" sz="1100">
                          <a:solidFill>
                            <a:srgbClr val="FFFFFF"/>
                          </a:solidFill>
                          <a:latin typeface="Calibri"/>
                        </a:rPr>
                        <a:t>Solution Adopted</a:t>
                      </a:r>
                    </a:p>
                  </a:txBody>
                  <a:tcPr>
                    <a:solidFill>
                      <a:srgbClr val="1B3A6B"/>
                    </a:solidFill>
                  </a:tcPr>
                </a:tc>
              </a:tr>
              <a:tr h="861060">
                <a:tc>
                  <a:txBody>
                    <a:bodyPr/>
                    <a:lstStyle/>
                    <a:p>
                      <a:pPr algn="ctr"/>
                      <a:r>
                        <a:rPr sz="1100">
                          <a:solidFill>
                            <a:srgbClr val="1B3A6B"/>
                          </a:solidFill>
                          <a:latin typeface="Calibri"/>
                        </a:rPr>
                        <a:t>1</a:t>
                      </a:r>
                    </a:p>
                  </a:txBody>
                  <a:tcPr>
                    <a:solidFill>
                      <a:srgbClr val="D6EAF8"/>
                    </a:solidFill>
                  </a:tcPr>
                </a:tc>
                <a:tc>
                  <a:txBody>
                    <a:bodyPr/>
                    <a:lstStyle/>
                    <a:p>
                      <a:pPr algn="ctr"/>
                      <a:r>
                        <a:rPr sz="1100">
                          <a:solidFill>
                            <a:srgbClr val="1B3A6B"/>
                          </a:solidFill>
                          <a:latin typeface="Calibri"/>
                        </a:rPr>
                        <a:t>Old dataset had pre-extracted features — bypassed our feature extractor</a:t>
                      </a:r>
                    </a:p>
                  </a:txBody>
                  <a:tcPr>
                    <a:solidFill>
                      <a:srgbClr val="D6EAF8"/>
                    </a:solidFill>
                  </a:tcPr>
                </a:tc>
                <a:tc>
                  <a:txBody>
                    <a:bodyPr/>
                    <a:lstStyle/>
                    <a:p>
                      <a:pPr algn="ctr"/>
                      <a:r>
                        <a:rPr sz="1100">
                          <a:solidFill>
                            <a:srgbClr val="1B3A6B"/>
                          </a:solidFill>
                          <a:latin typeface="Calibri"/>
                        </a:rPr>
                        <a:t>Switched to raw PhishTank feed + UNB URLs; built feature matrix from scratch</a:t>
                      </a:r>
                    </a:p>
                  </a:txBody>
                  <a:tcPr>
                    <a:solidFill>
                      <a:srgbClr val="D6EAF8"/>
                    </a:solidFill>
                  </a:tcPr>
                </a:tc>
              </a:tr>
              <a:tr h="861060">
                <a:tc>
                  <a:txBody>
                    <a:bodyPr/>
                    <a:lstStyle/>
                    <a:p>
                      <a:pPr algn="ctr"/>
                      <a:r>
                        <a:rPr sz="1100">
                          <a:solidFill>
                            <a:srgbClr val="1B3A6B"/>
                          </a:solidFill>
                          <a:latin typeface="Calibri"/>
                        </a:rPr>
                        <a:t>2</a:t>
                      </a:r>
                    </a:p>
                  </a:txBody>
                  <a:tcPr>
                    <a:solidFill>
                      <a:srgbClr val="FFFFFF"/>
                    </a:solidFill>
                  </a:tcPr>
                </a:tc>
                <a:tc>
                  <a:txBody>
                    <a:bodyPr/>
                    <a:lstStyle/>
                    <a:p>
                      <a:pPr algn="ctr"/>
                      <a:r>
                        <a:rPr sz="1100">
                          <a:solidFill>
                            <a:srgbClr val="1B3A6B"/>
                          </a:solidFill>
                          <a:latin typeface="Calibri"/>
                        </a:rPr>
                        <a:t>Legitimate URLs classified as phishing (wikipedia, stackoverflow)</a:t>
                      </a:r>
                    </a:p>
                  </a:txBody>
                  <a:tcPr>
                    <a:solidFill>
                      <a:srgbClr val="FFFFFF"/>
                    </a:solidFill>
                  </a:tcPr>
                </a:tc>
                <a:tc>
                  <a:txBody>
                    <a:bodyPr/>
                    <a:lstStyle/>
                    <a:p>
                      <a:pPr algn="ctr"/>
                      <a:r>
                        <a:rPr sz="1100">
                          <a:solidFill>
                            <a:srgbClr val="1B3A6B"/>
                          </a:solidFill>
                          <a:latin typeface="Calibri"/>
                        </a:rPr>
                        <a:t>Added UNB benign URLs + expanded path templates in training data</a:t>
                      </a:r>
                    </a:p>
                  </a:txBody>
                  <a:tcPr>
                    <a:solidFill>
                      <a:srgbClr val="FFFFFF"/>
                    </a:solidFill>
                  </a:tcPr>
                </a:tc>
              </a:tr>
              <a:tr h="861060">
                <a:tc>
                  <a:txBody>
                    <a:bodyPr/>
                    <a:lstStyle/>
                    <a:p>
                      <a:pPr algn="ctr"/>
                      <a:r>
                        <a:rPr sz="1100">
                          <a:solidFill>
                            <a:srgbClr val="1B3A6B"/>
                          </a:solidFill>
                          <a:latin typeface="Calibri"/>
                        </a:rPr>
                        <a:t>3</a:t>
                      </a:r>
                    </a:p>
                  </a:txBody>
                  <a:tcPr>
                    <a:solidFill>
                      <a:srgbClr val="D6EAF8"/>
                    </a:solidFill>
                  </a:tcPr>
                </a:tc>
                <a:tc>
                  <a:txBody>
                    <a:bodyPr/>
                    <a:lstStyle/>
                    <a:p>
                      <a:pPr algn="ctr"/>
                      <a:r>
                        <a:rPr sz="1100">
                          <a:solidFill>
                            <a:srgbClr val="1B3A6B"/>
                          </a:solidFill>
                          <a:latin typeface="Calibri"/>
                        </a:rPr>
                        <a:t>Substring keyword match: 'Phishing' in wikipedia URL → false positive</a:t>
                      </a:r>
                    </a:p>
                  </a:txBody>
                  <a:tcPr>
                    <a:solidFill>
                      <a:srgbClr val="D6EAF8"/>
                    </a:solidFill>
                  </a:tcPr>
                </a:tc>
                <a:tc>
                  <a:txBody>
                    <a:bodyPr/>
                    <a:lstStyle/>
                    <a:p>
                      <a:pPr algn="ctr"/>
                      <a:r>
                        <a:rPr sz="1100">
                          <a:solidFill>
                            <a:srgbClr val="1B3A6B"/>
                          </a:solidFill>
                          <a:latin typeface="Calibri"/>
                        </a:rPr>
                        <a:t>Replaced with token intersection: split URL on non-alphanumeric chars first</a:t>
                      </a:r>
                    </a:p>
                  </a:txBody>
                  <a:tcPr>
                    <a:solidFill>
                      <a:srgbClr val="D6EAF8"/>
                    </a:solidFill>
                  </a:tcPr>
                </a:tc>
              </a:tr>
              <a:tr h="861060">
                <a:tc>
                  <a:txBody>
                    <a:bodyPr/>
                    <a:lstStyle/>
                    <a:p>
                      <a:pPr algn="ctr"/>
                      <a:r>
                        <a:rPr sz="1100">
                          <a:solidFill>
                            <a:srgbClr val="1B3A6B"/>
                          </a:solidFill>
                          <a:latin typeface="Calibri"/>
                        </a:rPr>
                        <a:t>4</a:t>
                      </a:r>
                    </a:p>
                  </a:txBody>
                  <a:tcPr>
                    <a:solidFill>
                      <a:srgbClr val="FFFFFF"/>
                    </a:solidFill>
                  </a:tcPr>
                </a:tc>
                <a:tc>
                  <a:txBody>
                    <a:bodyPr/>
                    <a:lstStyle/>
                    <a:p>
                      <a:pPr algn="ctr"/>
                      <a:r>
                        <a:rPr sz="1100">
                          <a:solidFill>
                            <a:srgbClr val="1B3A6B"/>
                          </a:solidFill>
                          <a:latin typeface="Calibri"/>
                        </a:rPr>
                        <a:t>LR inside VotingClassifier needs its own scaler (no data leakage)</a:t>
                      </a:r>
                    </a:p>
                  </a:txBody>
                  <a:tcPr>
                    <a:solidFill>
                      <a:srgbClr val="FFFFFF"/>
                    </a:solidFill>
                  </a:tcPr>
                </a:tc>
                <a:tc>
                  <a:txBody>
                    <a:bodyPr/>
                    <a:lstStyle/>
                    <a:p>
                      <a:pPr algn="ctr"/>
                      <a:r>
                        <a:rPr sz="1100">
                          <a:solidFill>
                            <a:srgbClr val="1B3A6B"/>
                          </a:solidFill>
                          <a:latin typeface="Calibri"/>
                        </a:rPr>
                        <a:t>Wrapped LR in sklearn Pipeline([scaler, clf]) so scaling is internal</a:t>
                      </a:r>
                    </a:p>
                  </a:txBody>
                  <a:tcPr>
                    <a:solidFill>
                      <a:srgbClr val="FFFFFF"/>
                    </a:solidFill>
                  </a:tcPr>
                </a:tc>
              </a:tr>
              <a:tr h="861060">
                <a:tc>
                  <a:txBody>
                    <a:bodyPr/>
                    <a:lstStyle/>
                    <a:p>
                      <a:pPr algn="ctr"/>
                      <a:r>
                        <a:rPr sz="1100">
                          <a:solidFill>
                            <a:srgbClr val="1B3A6B"/>
                          </a:solidFill>
                          <a:latin typeface="Calibri"/>
                        </a:rPr>
                        <a:t>5</a:t>
                      </a:r>
                    </a:p>
                  </a:txBody>
                  <a:tcPr>
                    <a:solidFill>
                      <a:srgbClr val="D6EAF8"/>
                    </a:solidFill>
                  </a:tcPr>
                </a:tc>
                <a:tc>
                  <a:txBody>
                    <a:bodyPr/>
                    <a:lstStyle/>
                    <a:p>
                      <a:pPr algn="ctr"/>
                      <a:r>
                        <a:rPr sz="1100">
                          <a:solidFill>
                            <a:srgbClr val="1B3A6B"/>
                          </a:solidFill>
                          <a:latin typeface="Calibri"/>
                        </a:rPr>
                        <a:t>Unicode print character caused Windows cp1252 encoding error</a:t>
                      </a:r>
                    </a:p>
                  </a:txBody>
                  <a:tcPr>
                    <a:solidFill>
                      <a:srgbClr val="D6EAF8"/>
                    </a:solidFill>
                  </a:tcPr>
                </a:tc>
                <a:tc>
                  <a:txBody>
                    <a:bodyPr/>
                    <a:lstStyle/>
                    <a:p>
                      <a:pPr algn="ctr"/>
                      <a:r>
                        <a:rPr sz="1100">
                          <a:solidFill>
                            <a:srgbClr val="1B3A6B"/>
                          </a:solidFill>
                          <a:latin typeface="Calibri"/>
                        </a:rPr>
                        <a:t>Replaced '✓' with '[OK]' in print statements</a:t>
                      </a:r>
                    </a:p>
                  </a:txBody>
                  <a:tcPr>
                    <a:solidFill>
                      <a:srgbClr val="D6EA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CF0F1"/>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685800"/>
          </a:xfrm>
          <a:prstGeom prst="rect">
            <a:avLst/>
          </a:prstGeom>
          <a:noFill/>
        </p:spPr>
        <p:txBody>
          <a:bodyPr wrap="square">
            <a:spAutoFit/>
          </a:bodyPr>
          <a:lstStyle/>
          <a:p>
            <a:pPr algn="l"/>
            <a:r>
              <a:rPr sz="2600" b="1" i="0">
                <a:solidFill>
                  <a:srgbClr val="FFFFFF"/>
                </a:solidFill>
                <a:latin typeface="Calibri"/>
              </a:rPr>
              <a:t>Conclusion, Future Work &amp; References</a:t>
            </a:r>
          </a:p>
        </p:txBody>
      </p:sp>
      <p:sp>
        <p:nvSpPr>
          <p:cNvPr id="4" name="Rectangle 3"/>
          <p:cNvSpPr/>
          <p:nvPr/>
        </p:nvSpPr>
        <p:spPr>
          <a:xfrm>
            <a:off x="0" y="1188720"/>
            <a:ext cx="12188952"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6492240"/>
            <a:ext cx="1371600" cy="320040"/>
          </a:xfrm>
          <a:prstGeom prst="rect">
            <a:avLst/>
          </a:prstGeom>
          <a:noFill/>
        </p:spPr>
        <p:txBody>
          <a:bodyPr wrap="square">
            <a:spAutoFit/>
          </a:bodyPr>
          <a:lstStyle/>
          <a:p>
            <a:pPr algn="r"/>
            <a:r>
              <a:rPr sz="1000" b="0" i="0">
                <a:solidFill>
                  <a:srgbClr val="BDC3C7"/>
                </a:solidFill>
                <a:latin typeface="Calibri"/>
              </a:rPr>
              <a:t>17 / 17</a:t>
            </a:r>
          </a:p>
        </p:txBody>
      </p:sp>
      <p:sp>
        <p:nvSpPr>
          <p:cNvPr id="6" name="TextBox 5"/>
          <p:cNvSpPr txBox="1"/>
          <p:nvPr/>
        </p:nvSpPr>
        <p:spPr>
          <a:xfrm>
            <a:off x="365760" y="1325880"/>
            <a:ext cx="11430000" cy="365760"/>
          </a:xfrm>
          <a:prstGeom prst="rect">
            <a:avLst/>
          </a:prstGeom>
          <a:noFill/>
        </p:spPr>
        <p:txBody>
          <a:bodyPr wrap="square">
            <a:spAutoFit/>
          </a:bodyPr>
          <a:lstStyle/>
          <a:p>
            <a:pPr algn="l"/>
            <a:r>
              <a:rPr sz="1500" b="1" i="0">
                <a:solidFill>
                  <a:srgbClr val="1B3A6B"/>
                </a:solidFill>
                <a:latin typeface="Calibri"/>
              </a:rPr>
              <a:t>Conclusion</a:t>
            </a:r>
          </a:p>
        </p:txBody>
      </p:sp>
      <p:sp>
        <p:nvSpPr>
          <p:cNvPr id="7" name="TextBox 6"/>
          <p:cNvSpPr txBox="1"/>
          <p:nvPr/>
        </p:nvSpPr>
        <p:spPr>
          <a:xfrm>
            <a:off x="365760" y="1737360"/>
            <a:ext cx="11430000" cy="1554480"/>
          </a:xfrm>
          <a:prstGeom prst="rect">
            <a:avLst/>
          </a:prstGeom>
          <a:noFill/>
        </p:spPr>
        <p:txBody>
          <a:bodyPr wrap="square">
            <a:spAutoFit/>
          </a:bodyPr>
          <a:lstStyle/>
          <a:p>
            <a:pPr>
              <a:spcBef>
                <a:spcPts val="600"/>
              </a:spcBef>
            </a:pPr>
            <a:r>
              <a:rPr sz="1300">
                <a:solidFill>
                  <a:srgbClr val="1B3A6B"/>
                </a:solidFill>
                <a:latin typeface="Calibri"/>
              </a:rPr>
              <a:t>• Successfully built an end-to-end phishing URL detection system using 15 lexical features.</a:t>
            </a:r>
          </a:p>
          <a:p>
            <a:pPr>
              <a:spcBef>
                <a:spcPts val="600"/>
              </a:spcBef>
            </a:pPr>
            <a:r>
              <a:rPr sz="1300">
                <a:solidFill>
                  <a:srgbClr val="1B3A6B"/>
                </a:solidFill>
                <a:latin typeface="Calibri"/>
              </a:rPr>
              <a:t>• Hybrid Soft Voting (RF + LR) achieves 90.65% accuracy and best CV stability (±0.32%).</a:t>
            </a:r>
          </a:p>
          <a:p>
            <a:pPr>
              <a:spcBef>
                <a:spcPts val="600"/>
              </a:spcBef>
            </a:pPr>
            <a:r>
              <a:rPr sz="1300">
                <a:solidFill>
                  <a:srgbClr val="1B3A6B"/>
                </a:solidFill>
                <a:latin typeface="Calibri"/>
              </a:rPr>
              <a:t>• Deployed as a live Streamlit web app — no internet connection required at inference time.</a:t>
            </a:r>
          </a:p>
          <a:p>
            <a:pPr>
              <a:spcBef>
                <a:spcPts val="600"/>
              </a:spcBef>
            </a:pPr>
            <a:r>
              <a:rPr sz="1300">
                <a:solidFill>
                  <a:srgbClr val="1B3A6B"/>
                </a:solidFill>
                <a:latin typeface="Calibri"/>
              </a:rPr>
              <a:t>• 100% pass rate on 10-URL manual test suite (5 phishing + 5 legitimate).</a:t>
            </a:r>
          </a:p>
        </p:txBody>
      </p:sp>
      <p:sp>
        <p:nvSpPr>
          <p:cNvPr id="8" name="TextBox 7"/>
          <p:cNvSpPr txBox="1"/>
          <p:nvPr/>
        </p:nvSpPr>
        <p:spPr>
          <a:xfrm>
            <a:off x="365760" y="3383280"/>
            <a:ext cx="11430000" cy="365760"/>
          </a:xfrm>
          <a:prstGeom prst="rect">
            <a:avLst/>
          </a:prstGeom>
          <a:noFill/>
        </p:spPr>
        <p:txBody>
          <a:bodyPr wrap="square">
            <a:spAutoFit/>
          </a:bodyPr>
          <a:lstStyle/>
          <a:p>
            <a:pPr algn="l"/>
            <a:r>
              <a:rPr sz="1500" b="1" i="0">
                <a:solidFill>
                  <a:srgbClr val="1B3A6B"/>
                </a:solidFill>
                <a:latin typeface="Calibri"/>
              </a:rPr>
              <a:t>Future Work</a:t>
            </a:r>
          </a:p>
        </p:txBody>
      </p:sp>
      <p:sp>
        <p:nvSpPr>
          <p:cNvPr id="9" name="TextBox 8"/>
          <p:cNvSpPr txBox="1"/>
          <p:nvPr/>
        </p:nvSpPr>
        <p:spPr>
          <a:xfrm>
            <a:off x="365760" y="3794760"/>
            <a:ext cx="11430000" cy="1554480"/>
          </a:xfrm>
          <a:prstGeom prst="rect">
            <a:avLst/>
          </a:prstGeom>
          <a:noFill/>
        </p:spPr>
        <p:txBody>
          <a:bodyPr wrap="square">
            <a:spAutoFit/>
          </a:bodyPr>
          <a:lstStyle/>
          <a:p>
            <a:pPr>
              <a:spcBef>
                <a:spcPts val="600"/>
              </a:spcBef>
            </a:pPr>
            <a:r>
              <a:rPr sz="1300">
                <a:solidFill>
                  <a:srgbClr val="1B3A6B"/>
                </a:solidFill>
                <a:latin typeface="Calibri"/>
              </a:rPr>
              <a:t>• Browser Extension: Real-time URL inspection integrated into Chrome/Firefox.</a:t>
            </a:r>
          </a:p>
          <a:p>
            <a:pPr>
              <a:spcBef>
                <a:spcPts val="600"/>
              </a:spcBef>
            </a:pPr>
            <a:r>
              <a:rPr sz="1300">
                <a:solidFill>
                  <a:srgbClr val="1B3A6B"/>
                </a:solidFill>
                <a:latin typeface="Calibri"/>
              </a:rPr>
              <a:t>• Deep Learning: LSTM / BERT on character-level URL sequences for higher accuracy.</a:t>
            </a:r>
          </a:p>
          <a:p>
            <a:pPr>
              <a:spcBef>
                <a:spcPts val="600"/>
              </a:spcBef>
            </a:pPr>
            <a:r>
              <a:rPr sz="1300">
                <a:solidFill>
                  <a:srgbClr val="1B3A6B"/>
                </a:solidFill>
                <a:latin typeface="Calibri"/>
              </a:rPr>
              <a:t>• Real-time Threat Feed: Integrate PhishTank API for live phishing URL database.</a:t>
            </a:r>
          </a:p>
          <a:p>
            <a:pPr>
              <a:spcBef>
                <a:spcPts val="600"/>
              </a:spcBef>
            </a:pPr>
            <a:r>
              <a:rPr sz="1300">
                <a:solidFill>
                  <a:srgbClr val="1B3A6B"/>
                </a:solidFill>
                <a:latin typeface="Calibri"/>
              </a:rPr>
              <a:t>• Extended Features: WHOIS age, SSL certificate validity, page content analysis.</a:t>
            </a:r>
          </a:p>
        </p:txBody>
      </p:sp>
      <p:sp>
        <p:nvSpPr>
          <p:cNvPr id="10" name="TextBox 9"/>
          <p:cNvSpPr txBox="1"/>
          <p:nvPr/>
        </p:nvSpPr>
        <p:spPr>
          <a:xfrm>
            <a:off x="365760" y="5440680"/>
            <a:ext cx="11430000" cy="320040"/>
          </a:xfrm>
          <a:prstGeom prst="rect">
            <a:avLst/>
          </a:prstGeom>
          <a:noFill/>
        </p:spPr>
        <p:txBody>
          <a:bodyPr wrap="square">
            <a:spAutoFit/>
          </a:bodyPr>
          <a:lstStyle/>
          <a:p>
            <a:pPr algn="l"/>
            <a:r>
              <a:rPr sz="1300" b="1" i="0">
                <a:solidFill>
                  <a:srgbClr val="1B3A6B"/>
                </a:solidFill>
                <a:latin typeface="Calibri"/>
              </a:rPr>
              <a:t>References</a:t>
            </a:r>
          </a:p>
        </p:txBody>
      </p:sp>
      <p:sp>
        <p:nvSpPr>
          <p:cNvPr id="11" name="TextBox 10"/>
          <p:cNvSpPr txBox="1"/>
          <p:nvPr/>
        </p:nvSpPr>
        <p:spPr>
          <a:xfrm>
            <a:off x="365760" y="5760720"/>
            <a:ext cx="11430000" cy="1005840"/>
          </a:xfrm>
          <a:prstGeom prst="rect">
            <a:avLst/>
          </a:prstGeom>
          <a:noFill/>
        </p:spPr>
        <p:txBody>
          <a:bodyPr wrap="square">
            <a:spAutoFit/>
          </a:bodyPr>
          <a:lstStyle/>
          <a:p>
            <a:pPr>
              <a:spcBef>
                <a:spcPts val="600"/>
              </a:spcBef>
            </a:pPr>
            <a:r>
              <a:rPr sz="1100">
                <a:solidFill>
                  <a:srgbClr val="1B3A6B"/>
                </a:solidFill>
                <a:latin typeface="Calibri"/>
              </a:rPr>
              <a:t>• [1] A. Karim et al., IEEE Access 2023 | DOI:10.1109/ACCESS.2023.3252366</a:t>
            </a:r>
          </a:p>
          <a:p>
            <a:pPr>
              <a:spcBef>
                <a:spcPts val="600"/>
              </a:spcBef>
            </a:pPr>
            <a:r>
              <a:rPr sz="1100">
                <a:solidFill>
                  <a:srgbClr val="1B3A6B"/>
                </a:solidFill>
                <a:latin typeface="Calibri"/>
              </a:rPr>
              <a:t>• [2] scikit-learn: ML in Python — Pedregosa et al., JMLR 2011</a:t>
            </a:r>
          </a:p>
          <a:p>
            <a:pPr>
              <a:spcBef>
                <a:spcPts val="600"/>
              </a:spcBef>
            </a:pPr>
            <a:r>
              <a:rPr sz="1100">
                <a:solidFill>
                  <a:srgbClr val="1B3A6B"/>
                </a:solidFill>
                <a:latin typeface="Calibri"/>
              </a:rPr>
              <a:t>• [3] PhishTank — phishtank.org | Tranco — tranco-list.eu | UNB Benign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